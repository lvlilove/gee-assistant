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linear-gradient(135deg, #0E3F8C 0%, #1E4FA8 55%, #3D7BD9 100%)' }}&gt;&#10;  &lt;Box style={{ flex: 1, justifyContent: 'center', alignItems: 'center', padding: '0 90px' }}&gt;&#10;    &lt;Text style={{ fontSize: 22, color: '#A8C4E8', letterSpacing: 5, marginBottom: 22 }}&gt;&#10;      SATELLITE REMOTE SENSING INTELLIGENT ANALYSIS ASSISTANT&#10;    &lt;/Text&gt;&#10;    &lt;Text style={{ fontSize: 72, fontWeight: 'bold', color: '#FFFFFF', letterSpacing: 8, marginBottom: 28 }}&gt;&#10;      卫星遥感影像智能分析助手&#10;    &lt;/Text&gt;&#10;    &lt;Box style={{ width: 84, height: 4, background: '#FFC107', marginBottom: 28 }} /&gt;&#10;    &lt;Text style={{ fontSize: 28, color: '#E8EFF8', letterSpacing: 3 }}&gt;&#10;      对话式 · 零代码 · 智能体完整链路&#10;    &lt;/Text&gt;&#10;  &lt;/Box&gt;&#10;  &lt;Box style={{ flexDirection: 'row', justifyContent: 'space-between', alignItems: 'center', padding: '0 70px 40px' }}&gt;&#10;    &lt;Text style={{ fontSize: 18, color: '#A8C4E8' }}&gt;项目答辩汇报&lt;/Text&gt;&#10;    &lt;Text style={{ fontSize: 18, color: '#A8C4E8' }}&gt;2026 年 9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55000">
                <a:srgbClr val="1E4FA8"/>
              </a:gs>
              <a:gs pos="100000">
                <a:srgbClr val="3D7BD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1514475" y="2038350"/>
            <a:ext cx="9163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75">
                <a:solidFill>
                  <a:srgbClr val="A8C4E8"/>
                </a:solidFill>
                <a:latin typeface="Microsoft YaHei"/>
                <a:ea typeface="Microsoft YaHei"/>
              </a:rPr>
              <a:t>SATELLITE REMOTE SENSING INTELLIGENT ANALYSIS ASSISTANT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524000" y="2505075"/>
            <a:ext cx="9144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FFFFF"/>
                </a:solidFill>
                <a:latin typeface="Microsoft YaHei"/>
                <a:ea typeface="Microsoft YaHei"/>
              </a:rPr>
              <a:t>卫星遥感影像智能分析助手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5695950" y="3600450"/>
            <a:ext cx="8001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867150" y="3905250"/>
            <a:ext cx="4457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spc="225">
                <a:solidFill>
                  <a:srgbClr val="E8EFF8"/>
                </a:solidFill>
                <a:latin typeface="Microsoft YaHei"/>
                <a:ea typeface="Microsoft YaHei"/>
              </a:rPr>
              <a:t>对话式</a:t>
            </a:r>
            <a:r>
              <a:rPr lang="en-US" sz="2100" spc="225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2100" spc="225">
                <a:solidFill>
                  <a:srgbClr val="E8EFF8"/>
                </a:solidFill>
                <a:latin typeface="Microsoft YaHei"/>
                <a:ea typeface="Microsoft YaHei"/>
              </a:rPr>
              <a:t>零代码</a:t>
            </a:r>
            <a:r>
              <a:rPr lang="en-US" sz="2100" spc="225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2100" spc="225">
                <a:solidFill>
                  <a:srgbClr val="E8EFF8"/>
                </a:solidFill>
                <a:latin typeface="Microsoft YaHei"/>
                <a:ea typeface="Microsoft YaHei"/>
              </a:rPr>
              <a:t>智能体完整链路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6267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C4E8"/>
                </a:solidFill>
                <a:latin typeface="Microsoft YaHei"/>
                <a:ea typeface="Microsoft YaHei"/>
              </a:rPr>
              <a:t>项目答辩汇报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525125" y="6267450"/>
            <a:ext cx="100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A8C4E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A8C4E8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A8C4E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A8C4E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style={{ background: '#FFFFFF' }}&gt;&#10;  &lt;Box style={{ flexDirection: 'row', flex: 1 }}&gt;&#10;    &lt;Box style={{ width: 340, background: '#0E3F8C', justifyContent: 'center', padding: '60px 48px' }}&gt;&#10;      &lt;Text style={{ fontSize: 56, fontWeight: 'bold', color: '#FFFFFF', marginBottom: 14 }}&gt;目录&lt;/Text&gt;&#10;      &lt;Text style={{ fontSize: 20, color: '#A8C4E8', letterSpacing: 3 }}&gt;CONTENTS&lt;/Text&gt;&#10;      &lt;Box style={{ width: 48, height: 4, background: '#FFC107', marginTop: 24 }} /&gt;&#10;    &lt;/Box&gt;&#10;    &lt;Box style={{ flex: 1, justifyContent: 'center', padding: '40px 70px', gap: 44 }}&gt;&#10;      {[&#10;        { no: '01', t: '项目背景与目标', d: '背景问题 · 项目目标 · 量化指标' },&#10;        { no: '02', t: '技术方案', d: '系统架构 · 核心智能体链路 · 可插拔后端' },&#10;        { no: '03', t: '实现成果与总结', d: '工程化加固 · 功能达成 · 难点与展望' },&#10;      ].map((s, i) =&gt; (&#10;        &lt;Box key={i} style={{ flexDirection: 'row', alignItems: 'center', gap: 26 }}&gt;&#10;          &lt;Box style={{ width: 66, height: 66, background: '#1E4FA8', borderRadius: 8, justifyContent: 'center', alignItems: 'center' }}&gt;&#10;            &lt;Text style={{ fontSize: 28, fontWeight: 'bold', color: '#FFFFFF' }}&gt;{s.no}&lt;/Text&gt;&#10;          &lt;/Box&gt;&#10;          &lt;Box style={{ gap: 6 }}&gt;&#10;            &lt;Text style={{ fontSize: 30, fontWeight: 'bold', color: '#1A2230' }}&gt;{s.t}&lt;/Text&gt;&#10;            &lt;Text style={{ fontSize: 18, color: '#4A5568' }}&gt;{s.d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7200" y="2790825"/>
            <a:ext cx="23241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7200" y="35718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A8C4E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57200" y="4029075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3905250" y="2066925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057650" y="22193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781550" y="2076450"/>
            <a:ext cx="2343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781550" y="2476500"/>
            <a:ext cx="2343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背景问题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项目目标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量化指标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3905250" y="3114675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057650" y="32670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781550" y="3124200"/>
            <a:ext cx="3028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781550" y="352425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系统架构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核心智能体链路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可插拔后端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905250" y="4162425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057650" y="43148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781550" y="4171950"/>
            <a:ext cx="2686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实现成果与总结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781550" y="4572000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工程化加固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功能达成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难点与展望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8" name="" descr="&lt;Slide style={{ background: '#F7F9FC' }}&gt;&#10;  &lt;Box style={{ flexDirection: 'row', flex: 1 }}&gt;&#10;    &lt;Box style={{ width: 360, background: '#1E4FA8', justifyContent: 'center', alignItems: 'center' }}&gt;&#10;      &lt;Text style={{ fontSize: 220, fontWeight: 'bold', color: '#FFFFFF', opacity: 0.92 }}&gt;01&lt;/Text&gt;&#10;    &lt;/Box&gt;&#10;    &lt;Box style={{ flex: 1, justifyContent: 'center', padding: '0 84px', gap: 22 }}&gt;&#10;      &lt;Text style={{ fontSize: 50, fontWeight: 'bold', color: '#0E3F8C' }}&gt;项目背景与目标&lt;/Text&gt;&#10;      &lt;Box style={{ width: 64, height: 4, background: '#FFC107' }} /&gt;&#10;      &lt;Text style={{ fontSize: 22, color: '#4A5568', lineHeight: 1.6 }}&gt;背景问题：遥感分析门槛高，非编程用户难以上手&lt;/Text&gt;&#10;      &lt;Text style={{ fontSize: 22, color: '#4A5568', lineHeight: 1.6 }}&gt;项目目标：对话式零代码完成遥感分析&lt;/Text&gt;&#10;      &lt;Text style={{ fontSize: 22, color: '#4A5568', lineHeight: 1.6 }}&gt;量化指标：意图识别、一次成功率、调试完成率、响应时长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229100" y="2095500"/>
            <a:ext cx="71628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0E3F8C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229100" y="28765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229100" y="312420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背景问题：遥感分析门槛高，非编程用户难以上手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229100" y="3743325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项目目标：对话式零代码完成遥感分析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量化指标：意图识别、一次成功率、调试完成率、响应时长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1910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style={{ background: '#FFFFFF' }}&gt;&#10;  &lt;Box style={{ flexDirection: 'row', flex: 1 }}&gt;&#10;    &lt;Box style={{ width: 380, background: '#F0F5FC', padding: '64px 42px', gap: 24, borderRight: '1px solid #D6DCE5' }}&gt;&#10;      &lt;Text style={{ fontSize: 40, fontWeight: 'bold', color: '#0E3F8C', lineHeight: 1.3 }}&gt;项目背景与问题&lt;/Text&gt;&#10;      &lt;Box style={{ width: 56, height: 4, background: '#FFC107' }} /&gt;&#10;      &lt;Text style={{ fontSize: 20, color: '#4A5568', lineHeight: 1.8 }}&gt;&#10;        卫星遥感是森林砍伐监测、水体污染追踪、作物长势评估的核心手段，大量一线工作者依赖 Google Earth Engine（GEE）开展分析，却长期被编程门槛卡住。&#10;      &lt;/Text&gt;&#10;    &lt;/Box&gt;&#10;    &lt;Box style={{ flex: 1, padding: '52px 56px', gap: 24, justifyContent: 'center' }}&gt;&#10;      {[&#10;        { t: '编程门槛高', d: 'GEE 需要编程基础，遥感分析代码编写复杂、调试耗时，频繁试错严重拉低效率。' },&#10;        { t: '学习曲线陡峭', d: '生态学家、基层环保工作者等非技术用户难以直接上手，被迫依赖专业编程人员。' },&#10;        { t: '依赖导致延误', d: '常因无法自主完成分析而延误工作，业务周期被外包与沟通反复拉长。' },&#10;      ].map((p, i) =&gt; (&#10;        &lt;Box key={i} style={{ background: '#F7F9FC', border: '1px solid #D6DCE5', borderRadius: 10, padding: '22px 26px', flexDirection: 'row', gap: 18, alignItems: 'flex-start' }}&gt;&#10;          &lt;Box style={{ width: 38, height: 38, background: '#1E4FA8', borderRadius: 6, justifyContent: 'center', alignItems: 'center' }}&gt;&#10;            &lt;Text style={{ fontSize: 18, fontWeight: 'bold', color: '#FFFFFF' }}&gt;{i + 1}&lt;/Text&gt;&#10;          &lt;/Box&gt;&#10;          &lt;Box style={{ flex: 1, gap: 6 }}&gt;&#10;            &lt;Text style={{ fontSize: 24, fontWeight: 'bold', color: '#1A2230' }}&gt;{p.t}&lt;/Text&gt;&#10;            &lt;Text style={{ fontSize: 18, color: '#4A5568', lineHeight: 1.6 }}&gt;{p.d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0" y="0"/>
            <a:ext cx="3609975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0" y="0"/>
            <a:ext cx="3619500" cy="6858000"/>
          </a:xfrm>
          <a:custGeom>
            <a:pathLst>
              <a:path w="380" h="720">
                <a:moveTo>
                  <a:pt x="379" y="0"/>
                </a:moveTo>
                <a:lnTo>
                  <a:pt x="380" y="0"/>
                </a:lnTo>
                <a:lnTo>
                  <a:pt x="380" y="720"/>
                </a:lnTo>
                <a:lnTo>
                  <a:pt x="379" y="72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00050" y="609600"/>
            <a:ext cx="2809875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项目背景与问题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00050" y="14382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00050" y="1704975"/>
            <a:ext cx="2809875" cy="2476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卫星遥感是森林砍伐监测、水体污染追踪、作物长势评估的核心手段，大量一线工作者依赖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Google Earth Engine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GEE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）开展分析，却长期被编程门槛卡住。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4152900" y="1571625"/>
            <a:ext cx="75057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4400550" y="178117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524375" y="18573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933950" y="178117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编程门槛高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933950" y="2114550"/>
            <a:ext cx="6477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GEE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需要编程基础，遥感分析代码编写复杂、调试耗时，频繁试错严重拉低效率。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152900" y="2886075"/>
            <a:ext cx="75057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4400550" y="309562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524375" y="31718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933950" y="309562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学习曲线陡峭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933950" y="3429000"/>
            <a:ext cx="6477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生态学家、基层环保工作者等非技术用户难以直接上手，被迫依赖专业编程人员。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152900" y="4200525"/>
            <a:ext cx="75057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4400550" y="441007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524375" y="44862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933950" y="441007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依赖导致延误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933950" y="4743450"/>
            <a:ext cx="6477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常因无法自主完成分析而延误工作，业务周期被外包与沟通反复拉长。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style={{ background: '#FFFFFF' }}&gt;&#10;  &lt;Box style={{ flexDirection: 'row', flex: 1 }}&gt;&#10;    &lt;Box style={{ width: 340, background: '#0E3F8C', padding: '60px 42px', gap: 22 }}&gt;&#10;      &lt;Text style={{ fontSize: 38, fontWeight: 'bold', color: '#FFFFFF', lineHeight: 1.3 }}&gt;项目目标&lt;/Text&gt;&#10;      &lt;Box style={{ width: 56, height: 4, background: '#FFC107' }} /&gt;&#10;      &lt;Text style={{ fontSize: 19, color: '#C9D9F0', lineHeight: 1.8 }}&gt;&#10;        开发一款对话式卫星遥感影像智能分析 Web 应用，让用户零代码完成常见遥感分析任务。&#10;      &lt;/Text&gt;&#10;      &lt;Box style={{ background: '#0A2F6B', borderRadius: 8, padding: '18px 20px', marginTop: 8, gap: 8 }}&gt;&#10;        &lt;Text style={{ fontSize: 17, fontWeight: 'bold', color: '#FFC107' }}&gt;当前进度&lt;/Text&gt;&#10;        &lt;Text style={{ fontSize: 16, color: '#C9D9F0', lineHeight: 1.7 }}&gt;&#10;          核心链路已在真实 Earth Engine 上跑通，量化指标进入正式复核阶段。&#10;        &lt;/Text&gt;&#10;      &lt;/Box&gt;&#10;    &lt;/Box&gt;&#10;    &lt;Box style={{ flex: 1, padding: '44px 52px', gap: 20, justifyContent: 'center' }}&gt;&#10;      &lt;Box style={{ flexDirection: 'row', gap: 20, flex: 1 }}&gt;&#10;        &lt;Box style={{ flex: 1, background: '#F0F5FC', borderRadius: 10, padding: '22px 24px', justifyContent: 'center', gap: 7 }}&gt;&#10;          &lt;Text style={{ fontSize: 54, fontWeight: 'bold', color: '#1E4FA8' }}&gt;≥90%&lt;/Text&gt;&#10;          &lt;Text style={{ fontSize: 19, fontWeight: 'bold', color: '#1A2230' }}&gt;意图识别准确率&lt;/Text&gt;&#10;          &lt;Text style={{ fontSize: 15, color: '#4A5568' }}&gt;自然语言需求解析正确率&lt;/Text&gt;&#10;        &lt;/Box&gt;&#10;        &lt;Box style={{ flex: 1, background: '#F0F5FC', borderRadius: 10, padding: '22px 24px', justifyContent: 'center', gap: 7 }}&gt;&#10;          &lt;Text style={{ fontSize: 54, fontWeight: 'bold', color: '#1E4FA8' }}&gt;≥70%&lt;/Text&gt;&#10;          &lt;Text style={{ fontSize: 19, fontWeight: 'bold', color: '#1A2230' }}&gt;一次成功率&lt;/Text&gt;&#10;          &lt;Box style={{ flexDirection: 'row', alignItems: 'center', gap: 8, marginTop: 2 }}&gt;&#10;            &lt;Box style={{ background: '#E3F3EC', borderRadius: 4, padding: '2px 9px' }}&gt;&#10;              &lt;Text style={{ fontSize: 14, fontWeight: 'bold', color: '#1D9E75' }}&gt;实测 86.4%&lt;/Text&gt;&#10;            &lt;/Box&gt;&#10;            &lt;Text style={{ fontSize: 13, color: '#8B97A8' }}&gt;19 / 22 条&lt;/Text&gt;&#10;          &lt;/Box&gt;&#10;        &lt;/Box&gt;&#10;      &lt;/Box&gt;&#10;      &lt;Box style={{ flexDirection: 'row', gap: 20, flex: 1 }}&gt;&#10;        &lt;Box style={{ flex: 1, background: '#F0F5FC', borderRadius: 10, padding: '22px 24px', justifyContent: 'center', gap: 7 }}&gt;&#10;          &lt;Text style={{ fontSize: 54, fontWeight: 'bold', color: '#1E4FA8' }}&gt;≥85%&lt;/Text&gt;&#10;          &lt;Text style={{ fontSize: 19, fontWeight: 'bold', color: '#1A2230' }}&gt;调试后完成率&lt;/Text&gt;&#10;          &lt;Box style={{ flexDirection: 'row', alignItems: 'center', gap: 8, marginTop: 2 }}&gt;&#10;            &lt;Box style={{ background: '#E3F3EC', borderRadius: 4, padding: '2px 9px' }}&gt;&#10;              &lt;Text style={{ fontSize: 14, fontWeight: 'bold', color: '#1D9E75' }}&gt;实测 95.5%&lt;/Text&gt;&#10;            &lt;/Box&gt;&#10;            &lt;Text style={{ fontSize: 13, color: '#8B97A8' }}&gt;21 / 22 条&lt;/Text&gt;&#10;          &lt;/Box&gt;&#10;        &lt;/Box&gt;&#10;        &lt;Box style={{ flex: 1, background: '#F0F5FC', borderRadius: 10, padding: '22px 24px', justifyContent: 'center', gap: 7 }}&gt;&#10;          &lt;Text style={{ fontSize: 54, fontWeight: 'bold', color: '#1E4FA8' }}&gt;≤60s&lt;/Text&gt;&#10;          &lt;Text style={{ fontSize: 19, fontWeight: 'bold', color: '#1A2230' }}&gt;典型任务耗时&lt;/Text&gt;&#10;          &lt;Text style={{ fontSize: 15, color: '#4A5568' }}&gt;端到端响应（不含 GEE 排队）&lt;/Text&gt;&#10;        &lt;/Box&gt;&#10;      &lt;/Box&gt;&#10;      &lt;Box style={{ background: '#E8EFF8', borderRadius: 8, padding: '13px 20px' }}&gt;&#10;        &lt;Text style={{ fontSize: 16, color: '#0E3F8C' }}&gt;&#10;          说明：两个成功率来自 22 条真实任务的初步实测，已高于目标值；正式验收以固定评测集复核四个指标。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00050" y="571500"/>
            <a:ext cx="24384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项目目标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00050" y="1352550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00050" y="1600200"/>
            <a:ext cx="24384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C9D9F0"/>
                </a:solidFill>
                <a:latin typeface="Microsoft YaHei"/>
                <a:ea typeface="Microsoft YaHei"/>
              </a:rPr>
              <a:t>开发一款对话式卫星遥感影像智能分析</a:t>
            </a:r>
            <a:r>
              <a:rPr lang="en-US" sz="1425">
                <a:solidFill>
                  <a:srgbClr val="C9D9F0"/>
                </a:solidFill>
                <a:latin typeface="Microsoft YaHei"/>
                <a:ea typeface="Microsoft YaHei"/>
              </a:rPr>
              <a:t> Web </a:t>
            </a:r>
            <a:r>
              <a:rPr lang="zh-CN" sz="1425">
                <a:solidFill>
                  <a:srgbClr val="C9D9F0"/>
                </a:solidFill>
                <a:latin typeface="Microsoft YaHei"/>
                <a:ea typeface="Microsoft YaHei"/>
              </a:rPr>
              <a:t>应用，让用户零代码完成常见遥感分析任务。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00050" y="3457575"/>
            <a:ext cx="2438400" cy="1552575"/>
          </a:xfrm>
          <a:prstGeom prst="roundRect">
            <a:avLst>
              <a:gd name="adj" fmla="val 4908"/>
            </a:avLst>
          </a:prstGeom>
          <a:solidFill>
            <a:srgbClr val="0A2F6B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90550" y="3629025"/>
            <a:ext cx="2057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当前进度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90550" y="3905250"/>
            <a:ext cx="20574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9F0"/>
                </a:solidFill>
                <a:latin typeface="Microsoft YaHei"/>
                <a:ea typeface="Microsoft YaHei"/>
              </a:rPr>
              <a:t>核心链路已在真实</a:t>
            </a:r>
            <a:r>
              <a:rPr lang="en-US" sz="1200">
                <a:solidFill>
                  <a:srgbClr val="C9D9F0"/>
                </a:solidFill>
                <a:latin typeface="Microsoft YaHei"/>
                <a:ea typeface="Microsoft YaHei"/>
              </a:rPr>
              <a:t> Earth Engine </a:t>
            </a:r>
            <a:r>
              <a:rPr lang="zh-CN" sz="1200">
                <a:solidFill>
                  <a:srgbClr val="C9D9F0"/>
                </a:solidFill>
                <a:latin typeface="Microsoft YaHei"/>
                <a:ea typeface="Microsoft YaHei"/>
              </a:rPr>
              <a:t>上跑通，量化指标进入正式复核阶段。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3733800" y="419100"/>
            <a:ext cx="3886200" cy="2600325"/>
          </a:xfrm>
          <a:prstGeom prst="roundRect">
            <a:avLst>
              <a:gd name="adj" fmla="val 36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962400" y="1152525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≥90%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962400" y="1838325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意图识别准确率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962400" y="212407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自然语言需求解析正确率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810500" y="419100"/>
            <a:ext cx="3886200" cy="2600325"/>
          </a:xfrm>
          <a:prstGeom prst="roundRect">
            <a:avLst>
              <a:gd name="adj" fmla="val 36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039100" y="1123950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≥70%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039100" y="180975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一次成功率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8039100" y="2114550"/>
            <a:ext cx="895350" cy="200025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124825" y="213360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实测</a:t>
            </a:r>
            <a:r>
              <a:rPr lang="en-US" sz="1050" b="1">
                <a:solidFill>
                  <a:srgbClr val="1D9E75"/>
                </a:solidFill>
                <a:latin typeface="Microsoft YaHei"/>
                <a:ea typeface="Microsoft YaHei"/>
              </a:rPr>
              <a:t> 86.4%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010650" y="2143125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19 / 22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733800" y="3209925"/>
            <a:ext cx="3886200" cy="2600325"/>
          </a:xfrm>
          <a:prstGeom prst="roundRect">
            <a:avLst>
              <a:gd name="adj" fmla="val 36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962400" y="3914775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≥85%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962400" y="4600575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调试后完成率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962400" y="4905375"/>
            <a:ext cx="895350" cy="200025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048125" y="49244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实测</a:t>
            </a:r>
            <a:r>
              <a:rPr lang="en-US" sz="1050" b="1">
                <a:solidFill>
                  <a:srgbClr val="1D9E75"/>
                </a:solidFill>
                <a:latin typeface="Microsoft YaHei"/>
                <a:ea typeface="Microsoft YaHei"/>
              </a:rPr>
              <a:t> 95.5%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4933950" y="4933950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21 / 22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7810500" y="3209925"/>
            <a:ext cx="3886200" cy="2600325"/>
          </a:xfrm>
          <a:prstGeom prst="roundRect">
            <a:avLst>
              <a:gd name="adj" fmla="val 36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039100" y="3943350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≤60s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39100" y="462915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典型任务耗时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039100" y="49149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端到端响应（不含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排队）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733800" y="6000750"/>
            <a:ext cx="7962900" cy="438150"/>
          </a:xfrm>
          <a:prstGeom prst="roundRect">
            <a:avLst>
              <a:gd name="adj" fmla="val 1739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924300" y="6124575"/>
            <a:ext cx="758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说明：两个成功率来自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22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条真实任务的初步实测，已高于目标值；正式验收以固定评测集复核四个指标。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60" name="" descr="&lt;Slide style={{ background: '#F7F9FC' }}&gt;&#10;  &lt;Box style={{ flexDirection: 'row', flex: 1 }}&gt;&#10;    &lt;Box style={{ width: 360, background: '#1E4FA8', justifyContent: 'center', alignItems: 'center' }}&gt;&#10;      &lt;Text style={{ fontSize: 220, fontWeight: 'bold', color: '#FFFFFF', opacity: 0.92 }}&gt;02&lt;/Text&gt;&#10;    &lt;/Box&gt;&#10;    &lt;Box style={{ flex: 1, justifyContent: 'center', padding: '0 84px', gap: 22 }}&gt;&#10;      &lt;Text style={{ fontSize: 50, fontWeight: 'bold', color: '#0E3F8C' }}&gt;技术方案&lt;/Text&gt;&#10;      &lt;Box style={{ width: 64, height: 4, background: '#FFC107' }} /&gt;&#10;      &lt;Text style={{ fontSize: 22, color: '#4A5568', lineHeight: 1.6 }}&gt;系统架构：前后端分离 B/S 架构&lt;/Text&gt;&#10;      &lt;Text style={{ fontSize: 22, color: '#4A5568', lineHeight: 1.6 }}&gt;核心智能体链路：意图 → 生成 → 执行 → 调试 → 可视化&lt;/Text&gt;&#10;      &lt;Text style={{ fontSize: 22, color: '#4A5568', lineHeight: 1.6 }}&gt;可插拔后端：离线兜底 + 真实 GEE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229100" y="2095500"/>
            <a:ext cx="71628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0E3F8C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229100" y="28765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229100" y="312420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系统架构：前后端分离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B/S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229100" y="3743325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核心智能体链路：意图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执行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调试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可视化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可插拔后端：离线兜底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GEE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1910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9" name="" descr="&lt;Slide style={{ background: '#FFFFFF', padding: '36px 56px' }}&gt;&#10;  &lt;Box style={{ flexDirection: 'row', alignItems: 'center', gap: 16, marginBottom: 14 }}&gt;&#10;    &lt;Box style={{ width: 6, height: 32, background: '#1E4FA8' }} /&gt;&#10;    &lt;Text style={{ fontSize: 32, fontWeight: 'bold', color: '#1A2230' }}&gt;系统架构&lt;/Text&gt;&#10;    &lt;Text style={{ fontSize: 16, color: '#8B97A8' }}&gt;前后端分离 B/S 架构 · 可插拔执行后端&lt;/Text&gt;&#10;  &lt;/Box&gt;&#10;  &lt;Box style={{ flex: 1, justifyContent: 'center', alignItems: 'center' }}&gt;&#10;    &lt;svg width={1150} height={580} viewBox='0 0 1150 580'&gt;&#10;      {/* 前端层 */}&#10;      &lt;rect x='175' y='18' width='800' height='104' rx='10' fill='#F0F5FC' stroke='#1E4FA8' strokeWidth='2' /&gt;&#10;      &lt;text x='575' y='48' textAnchor='middle' fontSize='20' fontWeight='bold' fill='#0E3F8C'&gt;前端 React（Vite + Ant Design）&lt;/text&gt;&#10;      &lt;rect x='205' y='62' width='220' height='42' rx='6' fill='#1E4FA8' /&gt;&#10;      &lt;text x='315' y='88' textAnchor='middle' fontSize='15' fill='#FFFFFF'&gt;对话输入 / 多轮澄清&lt;/text&gt;&#10;      &lt;rect x='465' y='62' width='220' height='42' rx='6' fill='#1E4FA8' /&gt;&#10;      &lt;text x='575' y='88' textAnchor='middle' fontSize='15' fill='#FFFFFF'&gt;地图 Leaflet&lt;/text&gt;&#10;      &lt;rect x='725' y='62' width='220' height='42' rx='6' fill='#1E4FA8' /&gt;&#10;      &lt;text x='835' y='88' textAnchor='middle' fontSize='15' fill='#FFFFFF'&gt;图表 ECharts&lt;/text&gt;&#10;&#10;      {/* 前后端箭头 */}&#10;      &lt;line x1='575' y1='122' x2='575' y2='158' stroke='#1E4FA8' strokeWidth='2' /&gt;&#10;      &lt;polygon points='570,158 580,158 575,168' fill='#1E4FA8' /&gt;&#10;      &lt;text x='592' y='145' fontSize='14' fill='#4A5568'&gt;HTTP / JSON&lt;/text&gt;&#10;&#10;      {/* 后端层 */}&#10;      &lt;rect x='175' y='170' width='800' height='220' rx='10' fill='#FFFFFF' stroke='#1E4FA8' strokeWidth='2' /&gt;&#10;      &lt;text x='575' y='200' textAnchor='middle' fontSize='20' fontWeight='bold' fill='#0E3F8C'&gt;后端 FastAPI（:8010）&lt;/text&gt;&#10;      &lt;rect x='205' y='218' width='220' height='92' rx='8' fill='#E8EFF8' stroke='#3D7BD9' strokeWidth='1' /&gt;&#10;      &lt;text x='315' y='248' textAnchor='middle' fontSize='16' fontWeight='bold' fill='#1A2230'&gt;intent 意图解析&lt;/text&gt;&#10;      &lt;text x='315' y='274' textAnchor='middle' fontSize='13' fill='#4A5568'&gt;自然语言 → 结构化参数&lt;/text&gt;&#10;      &lt;rect x='465' y='218' width='220' height='92' rx='8' fill='#E8EFF8' stroke='#3D7BD9' strokeWidth='1' /&gt;&#10;      &lt;text x='575' y='248' textAnchor='middle' fontSize='16' fontWeight='bold' fill='#1A2230'&gt;orchestrator 编排&lt;/text&gt;&#10;      &lt;text x='575' y='274' textAnchor='middle' fontSize='13' fill='#4A5568'&gt;LangGraph 生成→执行→调试&lt;/text&gt;&#10;      &lt;rect x='725' y='218' width='220' height='92' rx='8' fill='#E8EFF8' stroke='#3D7BD9' strokeWidth='1' /&gt;&#10;      &lt;text x='835' y='244' textAnchor='middle' fontSize='16' fontWeight='bold' fill='#1A2230'&gt;execution 可插拔&lt;/text&gt;&#10;      &lt;rect x='740' y='258' width='90' height='36' rx='5' fill='#1E4FA8' /&gt;&#10;      &lt;text x='785' y='281' textAnchor='middle' fontSize='13' fill='#FFFFFF'&gt;offline&lt;/text&gt;&#10;      &lt;rect x='840' y='258' width='90' height='36' rx='5' fill='#3D7BD9' /&gt;&#10;      &lt;text x='885' y='281' textAnchor='middle' fontSize='13' fill='#FFFFFF'&gt;gee&lt;/text&gt;&#10;&#10;      {/* 后端模块间箭头 */}&#10;      &lt;line x1='425' y1='264' x2='463' y2='264' stroke='#1E4FA8' strokeWidth='2' /&gt;&#10;      &lt;polygon points='463,259 463,269 473,264' fill='#1E4FA8' /&gt;&#10;      &lt;line x1='685' y1='264' x2='723' y2='264' stroke='#1E4FA8' strokeWidth='2' /&gt;&#10;      &lt;polygon points='723,259 723,269 733,264' fill='#1E4FA8' /&gt;&#10;&#10;      {/* 后端到外部箭头 */}&#10;      &lt;line x1='320' y1='390' x2='320' y2='436' stroke='#1E4FA8' strokeWidth='2' /&gt;&#10;      &lt;polygon points='315,436 325,436 320,446' fill='#1E4FA8' /&gt;&#10;      &lt;line x1='835' y1='390' x2='835' y2='436' stroke='#1E4FA8' strokeWidth='2' /&gt;&#10;      &lt;polygon points='830,436 840,436 835,446' fill='#1E4FA8' /&gt;&#10;&#10;      {/* 外部服务层 */}&#10;      &lt;rect x='180' y='448' width='280' height='76' rx='10' fill='#E8EFF8' stroke='#3D7BD9' strokeWidth='1' /&gt;&#10;      &lt;text x='320' y='480' textAnchor='middle' fontSize='18' fontWeight='bold' fill='#0E3F8C'&gt;DeepSeek API&lt;/text&gt;&#10;      &lt;text x='320' y='506' textAnchor='middle' fontSize='13' fill='#4A5568'&gt;代码生成 · 意图解析 · 修复&lt;/text&gt;&#10;      &lt;rect x='690' y='448' width='280' height='76' rx='10' fill='#E8EFF8' stroke='#3D7BD9' strokeWidth='1' /&gt;&#10;      &lt;text x='830' y='480' textAnchor='middle' fontSize='18' fontWeight='bold' fill='#0E3F8C'&gt;Google Earth Engine&lt;/text&gt;&#10;      &lt;text x='830' y='506' textAnchor='middle' fontSize='13' fill='#4A5568'&gt;真实云端计算（待凭据接入）&lt;/text&gt;&#10;    &lt;/svg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533400" y="3810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42950" y="342900"/>
            <a:ext cx="1219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114550" y="438150"/>
            <a:ext cx="2600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前后端分离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B/S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架构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可插拔执行后端</a:t>
            </a:r>
            <a:endParaRPr/>
          </a:p>
        </p:txBody>
      </p:sp>
      <p:pic>
        <p:nvPicPr>
          <p:cNvPr id="2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923925"/>
            <a:ext cx="10953750" cy="55245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5" name="" descr="&lt;Slide style={{ background: '#FFFFFF', padding: '36px 56px' }}&gt;&#10;  &lt;Box style={{ flexDirection: 'row', alignItems: 'center', gap: 16, marginBottom: 8 }}&gt;&#10;    &lt;Box style={{ width: 6, height: 32, background: '#1E4FA8' }} /&gt;&#10;    &lt;Text style={{ fontSize: 32, fontWeight: 'bold', color: '#1A2230' }}&gt;核心智能体链路&lt;/Text&gt;&#10;    &lt;Text style={{ fontSize: 16, color: '#8B97A8' }}&gt;自然语言 → 代码 → 执行 → 自修复 → 可视化&lt;/Text&gt;&#10;  &lt;/Box&gt;&#10;  &lt;Box style={{ flex: 1, justifyContent: 'center', alignItems: 'center' }}&gt;&#10;    &lt;svg width={1150} height={470} viewBox='0 0 1150 470'&gt;&#10;      {/* 节点 */}&#10;      &lt;rect x='20' y='70' width='190' height='170' rx='10' fill='#F0F5FC' stroke='#1E4FA8' strokeWidth='2' /&gt;&#10;      &lt;circle cx='115' cy='112' r='18' fill='#1E4FA8' /&gt;&#10;      &lt;text x='115' y='119' textAnchor='middle' fontSize='17' fontWeight='bold' fill='#FFFFFF'&gt;1&lt;/text&gt;&#10;      &lt;text x='115' y='158' textAnchor='middle' fontSize='18' fontWeight='bold' fill='#0E3F8C'&gt;意图解析&lt;/text&gt;&#10;      &lt;text x='115' y='186' textAnchor='middle' fontSize='13' fill='#4A5568'&gt;自然语言→结构化参数&lt;/text&gt;&#10;      &lt;text x='115' y='208' textAnchor='middle' fontSize='13' fill='#4A5568'&gt;缺参多轮澄清&lt;/text&gt;&#10;&#10;      &lt;rect x='250' y='70' width='190' height='170' rx='10' fill='#F0F5FC' stroke='#1E4FA8' strokeWidth='2' /&gt;&#10;      &lt;circle cx='345' cy='112' r='18' fill='#1E4FA8' /&gt;&#10;      &lt;text x='345' y='119' textAnchor='middle' fontSize='17' fontWeight='bold' fill='#FFFFFF'&gt;2&lt;/text&gt;&#10;      &lt;text x='345' y='158' textAnchor='middle' fontSize='18' fontWeight='bold' fill='#0E3F8C'&gt;代码生成&lt;/text&gt;&#10;      &lt;text x='345' y='186' textAnchor='middle' fontSize='13' fill='#4A5568'&gt;DeepSeek 生成&lt;/text&gt;&#10;      &lt;text x='345' y='208' textAnchor='middle' fontSize='13' fill='#4A5568'&gt;GEE Python 代码&lt;/text&gt;&#10;&#10;      &lt;rect x='480' y='70' width='190' height='170' rx='10' fill='#F0F5FC' stroke='#1E4FA8' strokeWidth='2' /&gt;&#10;      &lt;circle cx='575' cy='112' r='18' fill='#1E4FA8' /&gt;&#10;      &lt;text x='575' y='119' textAnchor='middle' fontSize='17' fontWeight='bold' fill='#FFFFFF'&gt;3&lt;/text&gt;&#10;      &lt;text x='575' y='158' textAnchor='middle' fontSize='18' fontWeight='bold' fill='#0E3F8C'&gt;沙箱执行&lt;/text&gt;&#10;      &lt;text x='575' y='186' textAnchor='middle' fontSize='13' fill='#4A5568'&gt;可插拔后端执行&lt;/text&gt;&#10;      &lt;text x='575' y='208' textAnchor='middle' fontSize='13' fill='#4A5568'&gt;解析图层统计&lt;/text&gt;&#10;&#10;      &lt;rect x='710' y='70' width='190' height='170' rx='10' fill='#F0F5FC' stroke='#1E4FA8' strokeWidth='2' /&gt;&#10;      &lt;circle cx='805' cy='112' r='18' fill='#D9534F' /&gt;&#10;      &lt;text x='805' y='119' textAnchor='middle' fontSize='17' fontWeight='bold' fill='#FFFFFF'&gt;4&lt;/text&gt;&#10;      &lt;text x='805' y='158' textAnchor='middle' fontSize='18' fontWeight='bold' fill='#0E3F8C'&gt;自动调试&lt;/text&gt;&#10;      &lt;text x='805' y='186' textAnchor='middle' fontSize='13' fill='#4A5568'&gt;错误分类→修复&lt;/text&gt;&#10;      &lt;text x='805' y='208' textAnchor='middle' fontSize='13' fill='#4A5568'&gt;重试上限&lt;/text&gt;&#10;&#10;      &lt;rect x='940' y='70' width='190' height='170' rx='10' fill='#F0F5FC' stroke='#1E4FA8' strokeWidth='2' /&gt;&#10;      &lt;circle cx='1035' cy='112' r='18' fill='#1E4FA8' /&gt;&#10;      &lt;text x='1035' y='119' textAnchor='middle' fontSize='17' fontWeight='bold' fill='#FFFFFF'&gt;5&lt;/text&gt;&#10;      &lt;text x='1035' y='158' textAnchor='middle' fontSize='18' fontWeight='bold' fill='#0E3F8C'&gt;可视化&lt;/text&gt;&#10;      &lt;text x='1035' y='186' textAnchor='middle' fontSize='13' fill='#4A5568'&gt;地图 + 图表&lt;/text&gt;&#10;      &lt;text x='1035' y='208' textAnchor='middle' fontSize='13' fill='#4A5568'&gt;报告导出&lt;/text&gt;&#10;&#10;      {/* 箭头 */}&#10;      &lt;line x1='210' y1='155' x2='248' y2='155' stroke='#1E4FA8' strokeWidth='2' /&gt;&#10;      &lt;polygon points='248,150 248,160 258,155' fill='#1E4FA8' /&gt;&#10;      &lt;line x1='440' y1='155' x2='478' y2='155' stroke='#1E4FA8' strokeWidth='2' /&gt;&#10;      &lt;polygon points='478,150 478,160 488,155' fill='#1E4FA8' /&gt;&#10;      &lt;line x1='670' y1='155' x2='708' y2='155' stroke='#1E4FA8' strokeWidth='2' /&gt;&#10;      &lt;polygon points='708,150 708,160 718,155' fill='#1E4FA8' /&gt;&#10;      &lt;line x1='900' y1='155' x2='938' y2='155' stroke='#1E4FA8' strokeWidth='2' /&gt;&#10;      &lt;polygon points='938,150 938,160 948,155' fill='#1E4FA8' /&gt;&#10;&#10;      {/* 闭环回环 */}&#10;      &lt;path d='M 805 240 C 805 290, 575 290, 575 242' fill='none' stroke='#D9534F' strokeWidth='2' strokeDasharray='6,4' /&gt;&#10;      &lt;polygon points='569,244 581,244 575,236' fill='#D9534F' /&gt;&#10;&#10;      {/* 底部说明 */}&#10;      &lt;rect x='20' y='330' width='1110' height='90' rx='10' fill='#E8EFF8' /&gt;&#10;      &lt;text x='575' y='366' textAnchor='middle' fontSize='18' fontWeight='bold' fill='#0E3F8C'&gt;闭环设计：执行失败 → 自动调试修复 → 回到沙箱执行（步骤 3 ↔ 4）&lt;/text&gt;&#10;      &lt;text x='575' y='396' textAnchor='middle' fontSize='15' fill='#4A5568'&gt;鉴权类错误不重试；达重试上限后输出人工修改建议，保证链路可收敛。&lt;/text&gt;&#10;    &lt;/svg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33400" y="3810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42950" y="342900"/>
            <a:ext cx="2133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核心智能体链路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028950" y="4381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自然语言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代码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执行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自修复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可视化</a:t>
            </a:r>
            <a:endParaRPr/>
          </a:p>
        </p:txBody>
      </p:sp>
      <p:pic>
        <p:nvPicPr>
          <p:cNvPr id="2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1419225"/>
            <a:ext cx="10953750" cy="447675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81" name="" descr="&lt;Slide style={{ background: '#FFFFFF', padding: '40px 56px' }}&gt;&#10;  &lt;Box style={{ flexDirection: 'row', alignItems: 'center', gap: 16, marginBottom: 20 }}&gt;&#10;    &lt;Box style={{ width: 6, height: 32, background: '#1E4FA8' }} /&gt;&#10;    &lt;Text style={{ fontSize: 32, fontWeight: 'bold', color: '#1A2230' }}&gt;关键设计：可插拔执行后端&lt;/Text&gt;&#10;  &lt;/Box&gt;&#10;  &lt;Box style={{ flexDirection: 'row', flex: 1, gap: 34 }}&gt;&#10;    &lt;Box style={{ flex: 3, background: '#F7F9FC', borderRadius: 12, border: '1px solid #D6DCE5', padding: '34px 36px', gap: 18 }}&gt;&#10;      &lt;Text style={{ fontSize: 26, fontWeight: 'bold', color: '#0E3F8C' }}&gt;一套接口，两个后端实现&lt;/Text&gt;&#10;      &lt;Text style={{ fontSize: 18, color: '#4A5568', lineHeight: 1.7 }}&gt;&#10;        任务书 6.3 指出 GEE 访问受网络环境限制。本方案把执行层抽象为可插拔后端：网络可达时走真实 Earth Engine，不可达时降级到内置样例，保证开发与演示都不被网络卡住。&#10;      &lt;/Text&gt;&#10;      &lt;Box style={{ gap: 14 }}&gt;&#10;        {[&#10;          '统一 I/O 契约 ExecutionOutcome（图层 + 图表 + 错误分类）',&#10;          'EXECUTION_BACKEND 环境变量一键切换 gee / offline',&#10;          '前端与编排层完全不感知后端差异',&#10;        ].map((t, i) =&gt; (&#10;          &lt;Box key={i} style={{ flexDirection: 'row', alignItems: 'center', gap: 12 }}&gt;&#10;            &lt;Box style={{ width: 24, height: 24, background: '#1E4FA8', borderRadius: 4, justifyContent: 'center', alignItems: 'center' }}&gt;&#10;              &lt;Text style={{ fontSize: 14, fontWeight: 'bold', color: '#FFFFFF' }}&gt;{i + 1}&lt;/Text&gt;&#10;            &lt;/Box&gt;&#10;            &lt;Text style={{ fontSize: 18, color: '#1A2230' }}&gt;{t}&lt;/Text&gt;&#10;          &lt;/Box&gt;&#10;        ))}&#10;      &lt;/Box&gt;&#10;    &lt;/Box&gt;&#10;    &lt;Box style={{ flex: 2, gap: 20 }}&gt;&#10;      &lt;Box style={{ flex: 1, background: '#F0F5FC', borderRadius: 12, border: '2px solid #1E4FA8', padding: '24px 26px', gap: 10 }}&gt;&#10;        &lt;Box style={{ flexDirection: 'row', alignItems: 'center', gap: 10 }}&gt;&#10;          &lt;Box style={{ background: '#1E4FA8', borderRadius: 6, padding: '2px 12px' }}&gt;&#10;            &lt;Text style={{ fontSize: 14, fontWeight: 'bold', color: '#FFFFFF' }}&gt;当前启用&lt;/Text&gt;&#10;          &lt;/Box&gt;&#10;          &lt;Text style={{ fontSize: 24, fontWeight: 'bold', color: '#0E3F8C' }}&gt;GEEBackend&lt;/Text&gt;&#10;        &lt;/Box&gt;&#10;        &lt;Text style={{ fontSize: 16, color: '#4A5568', lineHeight: 1.6 }}&gt;&#10;          真实调用 Earth Engine（项目 weixing-508708）。凭据 Fernet 加密落盘，出网走域名白名单，含超时与重试上限。&#10;        &lt;/Text&gt;&#10;      &lt;/Box&gt;&#10;      &lt;Box style={{ flex: 1, background: '#F7F9FC', borderRadius: 12, border: '1px solid #D6DCE5', padding: '24px 26px', gap: 10 }}&gt;&#10;        &lt;Box style={{ flexDirection: 'row', alignItems: 'center', gap: 10 }}&gt;&#10;          &lt;Box style={{ background: '#8B97A8', borderRadius: 6, padding: '2px 12px' }}&gt;&#10;            &lt;Text style={{ fontSize: 14, fontWeight: 'bold', color: '#FFFFFF' }}&gt;兜底可用&lt;/Text&gt;&#10;          &lt;/Box&gt;&#10;          &lt;Text style={{ fontSize: 24, fontWeight: 'bold', color: '#1A2230' }}&gt;OfflineBackend&lt;/Text&gt;&#10;        &lt;/Box&gt;&#10;        &lt;Text style={{ fontSize: 16, color: '#4A5568', lineHeight: 1.6 }}&gt;&#10;          内置样例数据，无 GEE 账号与网络也能秒级返回 NDVI 地图与统计图，保证离线可演示。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533400" y="4191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42950" y="381000"/>
            <a:ext cx="3657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关键设计：可插拔执行后端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33400" y="942975"/>
            <a:ext cx="6477000" cy="5534025"/>
          </a:xfrm>
          <a:prstGeom prst="roundRect">
            <a:avLst>
              <a:gd name="adj" fmla="val 20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76300" y="1266825"/>
            <a:ext cx="579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一套接口，两个后端实现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76300" y="1743075"/>
            <a:ext cx="57912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任务书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6.3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指出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访问受网络环境限制。本方案把执行层抽象为可插拔后端：网络可达时走真实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Earth Engine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，不可达时降级到内置样例，保证开发与演示都不被网络卡住。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76300" y="29718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52500" y="30099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19200" y="2981325"/>
            <a:ext cx="4829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统一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I/O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契约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ExecutionOutcome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（图层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图表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错误分类）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76300" y="33337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52500" y="33718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219200" y="3343275"/>
            <a:ext cx="433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EXECUTION_BACKEND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环境变量一键切换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gee / offline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76300" y="36957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52500" y="37338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219200" y="3705225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前端与编排层完全不感知后端差异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7334250" y="942975"/>
            <a:ext cx="4324350" cy="2819400"/>
          </a:xfrm>
          <a:prstGeom prst="roundRect">
            <a:avLst>
              <a:gd name="adj" fmla="val 4054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7581900" y="1209675"/>
            <a:ext cx="762000" cy="200025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696200" y="12287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当前启用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439150" y="1171575"/>
            <a:ext cx="1409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GEEBackend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581900" y="1543050"/>
            <a:ext cx="3829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真实调用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Earth Engine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（项目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weixing-508708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）。凭据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Fernet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加密落盘，出网走域名白名单，含超时与重试上限。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334250" y="3952875"/>
            <a:ext cx="4324350" cy="2524125"/>
          </a:xfrm>
          <a:prstGeom prst="roundRect">
            <a:avLst>
              <a:gd name="adj" fmla="val 452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7581900" y="4219575"/>
            <a:ext cx="762000" cy="200025"/>
          </a:xfrm>
          <a:prstGeom prst="roundRect">
            <a:avLst>
              <a:gd name="adj" fmla="val 28571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696200" y="42386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兜底可用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439150" y="4181475"/>
            <a:ext cx="1762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OfflineBackend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581900" y="4552950"/>
            <a:ext cx="3829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内置样例数据，无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账号与网络也能秒级返回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NDVI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地图与统计图，保证离线可演示。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9" name="" descr="&lt;Slide style={{ background: '#F7F9FC' }}&gt;&#10;  &lt;Box style={{ flexDirection: 'row', flex: 1 }}&gt;&#10;    &lt;Box style={{ width: 360, background: '#1E4FA8', justifyContent: 'center', alignItems: 'center' }}&gt;&#10;      &lt;Text style={{ fontSize: 220, fontWeight: 'bold', color: '#FFFFFF', opacity: 0.92 }}&gt;03&lt;/Text&gt;&#10;    &lt;/Box&gt;&#10;    &lt;Box style={{ flex: 1, justifyContent: 'center', padding: '0 84px', gap: 22 }}&gt;&#10;      &lt;Text style={{ fontSize: 50, fontWeight: 'bold', color: '#0E3F8C' }}&gt;实现成果与总结&lt;/Text&gt;&#10;      &lt;Box style={{ width: 64, height: 4, background: '#FFC107' }} /&gt;&#10;      &lt;Text style={{ fontSize: 22, color: '#4A5568', lineHeight: 1.6 }}&gt;功能达成：核心功能全点亮，对外可访问&lt;/Text&gt;&#10;      &lt;Text style={{ fontSize: 22, color: '#4A5568', lineHeight: 1.6 }}&gt;难点应对：可插拔后端化解 GEE 不可达风险&lt;/Text&gt;&#10;      &lt;Text style={{ fontSize: 22, color: '#4A5568', lineHeight: 1.6 }}&gt;借鉴与展望：吸收 Earth Agent 产品设计，持续演进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229100" y="2095500"/>
            <a:ext cx="71628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0E3F8C"/>
                </a:solidFill>
                <a:latin typeface="Microsoft YaHei"/>
                <a:ea typeface="Microsoft YaHei"/>
              </a:rPr>
              <a:t>实现成果与总结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229100" y="28765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29100" y="312420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功能达成：核心功能全点亮，对外可访问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229100" y="3743325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难点应对：可插拔后端化解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不可达风险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借鉴与展望：吸收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Earth Agent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产品设计，持续演进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1910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8" name="" descr="&lt;Slide style={{ background: '#FFFFFF', padding: '40px 56px' }}&gt;&#10;  &lt;Box style={{ flexDirection: 'row', alignItems: 'center', gap: 16, marginBottom: 10 }}&gt;&#10;    &lt;Box style={{ width: 6, height: 32, background: '#1E4FA8' }} /&gt;&#10;    &lt;Text style={{ fontSize: 32, fontWeight: 'bold', color: '#1A2230' }}&gt;工程化加固&lt;/Text&gt;&#10;    &lt;Text style={{ fontSize: 16, color: '#8B97A8' }}&gt;从「能跑通」到「敢放到公网」&lt;/Text&gt;&#10;  &lt;/Box&gt;&#10;  &lt;Box style={{ flexDirection: 'row', flex: 1, gap: 22, marginTop: 12 }}&gt;&#10;    &lt;Box style={{ flex: 1, background: '#F7F9FC', borderRadius: 12, border: '1px solid #D6DCE5', overflow: 'hidden' }}&gt;&#10;      &lt;Box style={{ height: 6, background: '#1E4FA8' }} /&gt;&#10;      &lt;Box style={{ padding: '26px 26px 22px', gap: 14, flex: 1 }}&gt;&#10;        &lt;Text style={{ fontSize: 23, fontWeight: 'bold', color: '#0E3F8C' }}&gt;多用户数据隔离&lt;/Text&gt;&#10;        &lt;Box style={{ gap: 11 }}&gt;&#10;          {[&#10;            '三张业务表统一挂 user_id，归属由服务端写入',&#10;            '越权一律返 404 而非 403，避免探测出 ID 是否存在',&#10;            '旧库启动自动迁移，历史数据划归管理员',&#10;          ].map((t, i) =&gt; (&#10;            &lt;Box key={i} style={{ flexDirection: 'row', gap: 10 }}&gt;&#10;              &lt;Box style={{ width: 6, height: 6, borderRadius: 3, background: '#1E4FA8', marginTop: 9 }} /&gt;&#10;              &lt;Text style={{ fontSize: 16, color: '#1A2230', lineHeight: 1.6, flex: 1 }}&gt;{t}&lt;/Text&gt;&#10;            &lt;/Box&gt;&#10;          ))}&#10;        &lt;/Box&gt;&#10;      &lt;/Box&gt;&#10;    &lt;/Box&gt;&#10;    &lt;Box style={{ flex: 1, background: '#F7F9FC', borderRadius: 12, border: '1px solid #D6DCE5', overflow: 'hidden' }}&gt;&#10;      &lt;Box style={{ height: 6, background: '#3D7BD9' }} /&gt;&#10;      &lt;Box style={{ padding: '26px 26px 22px', gap: 14, flex: 1 }}&gt;&#10;        &lt;Text style={{ fontSize: 23, fontWeight: 'bold', color: '#0E3F8C' }}&gt;任务配额四层&lt;/Text&gt;&#10;        &lt;Box style={{ gap: 11 }}&gt;&#10;          {[&#10;            '全局并发 3 · 单用户并发 2 · 每小时 20 · 每天 60',&#10;            '超限返 429 并带 Retry-After，前端给出明确提示',&#10;            '额度按库里记录统计，重启不清零、换部署绕不过',&#10;          ].map((t, i) =&gt; (&#10;            &lt;Box key={i} style={{ flexDirection: 'row', gap: 10 }}&gt;&#10;              &lt;Box style={{ width: 6, height: 6, borderRadius: 3, background: '#3D7BD9', marginTop: 9 }} /&gt;&#10;              &lt;Text style={{ fontSize: 16, color: '#1A2230', lineHeight: 1.6, flex: 1 }}&gt;{t}&lt;/Text&gt;&#10;            &lt;/Box&gt;&#10;          ))}&#10;        &lt;/Box&gt;&#10;      &lt;/Box&gt;&#10;    &lt;/Box&gt;&#10;    &lt;Box style={{ flex: 1, background: '#FDF3F3', borderRadius: 12, border: '1px solid #E8C4C4', overflow: 'hidden' }}&gt;&#10;      &lt;Box style={{ height: 6, background: '#D9534F' }} /&gt;&#10;      &lt;Box style={{ padding: '26px 26px 22px', gap: 14, flex: 1 }}&gt;&#10;        &lt;Text style={{ fontSize: 23, fontWeight: 'bold', color: '#B23B37' }}&gt;三处安全漏洞修复&lt;/Text&gt;&#10;        &lt;Box style={{ gap: 11 }}&gt;&#10;          {[&#10;            '路径穿越：兜底路由曾可匿名读走 .env 与整库',&#10;            '执行沙箱：生成代码曾能读取后端配置中的密钥',&#10;            'CORS 宽配置：任意来源曾被原样回显',&#10;          ].map((t, i) =&gt; (&#10;            &lt;Box key={i} style={{ flexDirection: 'row', gap: 10 }}&gt;&#10;              &lt;Box style={{ width: 6, height: 6, borderRadius: 3, background: '#D9534F', marginTop: 9 }} /&gt;&#10;              &lt;Text style={{ fontSize: 16, color: '#1A2230', lineHeight: 1.6, flex: 1 }}&gt;{t}&lt;/Text&gt;&#10;            &lt;/Box&gt;&#10;          ))}&#10;        &lt;/Box&gt;&#10;      &lt;/Box&gt;&#10;    &lt;/Box&gt;&#10;  &lt;/Box&gt;&#10;  &lt;Box style={{ flexDirection: 'row', alignItems: 'center', gap: 20, background: '#0E3F8C', borderRadius: 10, padding: '20px 30px', marginTop: 22 }}&gt;&#10;    &lt;Text style={{ fontSize: 46, fontWeight: 'bold', color: '#FFC107' }}&gt;360&lt;/Text&gt;&#10;    &lt;Box style={{ gap: 4, flex: 1 }}&gt;&#10;      &lt;Text style={{ fontSize: 19, fontWeight: 'bold', color: '#FFFFFF' }}&gt;项自动化断言全部通过，另有 25 项线上只读冒烟&lt;/Text&gt;&#10;      &lt;Text style={{ fontSize: 15, color: '#A8C4E8' }}&gt;覆盖访问控制、数据隔离、任务配额、静态托管安全、执行沙箱隔离与凭据链路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533400" y="4191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42950" y="381000"/>
            <a:ext cx="1524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工程化加固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419350" y="47625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从「能跑通」到「敢放到公网」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33400" y="962025"/>
            <a:ext cx="3571875" cy="4391025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33400" y="962025"/>
            <a:ext cx="3571875" cy="57150"/>
          </a:xfrm>
          <a:custGeom>
            <a:pathLst>
              <a:path w="375" h="6">
                <a:moveTo>
                  <a:pt x="363" y="0"/>
                </a:moveTo>
                <a:cubicBezTo>
                  <a:pt x="367" y="0"/>
                  <a:pt x="371" y="2"/>
                  <a:pt x="373" y="6"/>
                </a:cubicBezTo>
                <a:lnTo>
                  <a:pt x="2" y="6"/>
                </a:lnTo>
                <a:cubicBezTo>
                  <a:pt x="4" y="2"/>
                  <a:pt x="8" y="0"/>
                  <a:pt x="12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81050" y="1266825"/>
            <a:ext cx="3076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多用户数据隔离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81050" y="1752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33450" y="1666875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三张业务表统一挂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user_id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，归属由服务端写入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81050" y="2447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33450" y="2362200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越权一律返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404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而非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403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，避免探测出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ID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是否存在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81050" y="3143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33450" y="3057525"/>
            <a:ext cx="2924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旧库启动自动迁移，历史数据划归管理员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314825" y="962025"/>
            <a:ext cx="3562350" cy="4391025"/>
          </a:xfrm>
          <a:prstGeom prst="roundRect">
            <a:avLst>
              <a:gd name="adj" fmla="val 32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314825" y="962025"/>
            <a:ext cx="3562350" cy="57150"/>
          </a:xfrm>
          <a:custGeom>
            <a:pathLst>
              <a:path w="374" h="6">
                <a:moveTo>
                  <a:pt x="362" y="0"/>
                </a:moveTo>
                <a:cubicBezTo>
                  <a:pt x="366" y="0"/>
                  <a:pt x="370" y="2"/>
                  <a:pt x="372" y="6"/>
                </a:cubicBezTo>
                <a:lnTo>
                  <a:pt x="2" y="6"/>
                </a:lnTo>
                <a:cubicBezTo>
                  <a:pt x="4" y="2"/>
                  <a:pt x="8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562475" y="1266825"/>
            <a:ext cx="3067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任务配额四层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562475" y="1752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714875" y="1666875"/>
            <a:ext cx="2914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全局并发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3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单用户并发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2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每小时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20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每天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60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562475" y="2447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714875" y="2362200"/>
            <a:ext cx="2914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超限返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429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并带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Retry-After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，前端给出明确提示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562475" y="3143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714875" y="3057525"/>
            <a:ext cx="2914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额度按库里记录统计，重启不清零、换部署绕不过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8086725" y="962025"/>
            <a:ext cx="3571875" cy="4391025"/>
          </a:xfrm>
          <a:prstGeom prst="roundRect">
            <a:avLst>
              <a:gd name="adj" fmla="val 3200"/>
            </a:avLst>
          </a:prstGeom>
          <a:solidFill>
            <a:srgbClr val="FDF3F3"/>
          </a:solidFill>
          <a:ln w="12700">
            <a:solidFill>
              <a:srgbClr val="E8C4C4"/>
            </a:solidFill>
            <a:prstDash val="solid"/>
          </a:ln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086725" y="962025"/>
            <a:ext cx="3571875" cy="57150"/>
          </a:xfrm>
          <a:custGeom>
            <a:pathLst>
              <a:path w="375" h="6">
                <a:moveTo>
                  <a:pt x="363" y="0"/>
                </a:moveTo>
                <a:cubicBezTo>
                  <a:pt x="367" y="0"/>
                  <a:pt x="371" y="2"/>
                  <a:pt x="373" y="6"/>
                </a:cubicBezTo>
                <a:lnTo>
                  <a:pt x="2" y="6"/>
                </a:lnTo>
                <a:cubicBezTo>
                  <a:pt x="4" y="2"/>
                  <a:pt x="8" y="0"/>
                  <a:pt x="12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34375" y="1266825"/>
            <a:ext cx="3076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B23B37"/>
                </a:solidFill>
                <a:latin typeface="Microsoft YaHei"/>
                <a:ea typeface="Microsoft YaHei"/>
              </a:rPr>
              <a:t>三处安全漏洞修复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334375" y="1752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486775" y="1666875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路径穿越：兜底路由曾可匿名读走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.env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与整库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334375" y="2447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486775" y="2362200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执行沙箱：生成代码曾能读取后端配置中的密钥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334375" y="3143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486775" y="3057525"/>
            <a:ext cx="2924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CORS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宽配置：任意来源曾被原样回显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33400" y="5562600"/>
            <a:ext cx="11125200" cy="914400"/>
          </a:xfrm>
          <a:prstGeom prst="roundRect">
            <a:avLst>
              <a:gd name="adj" fmla="val 1041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5753100"/>
            <a:ext cx="819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C107"/>
                </a:solidFill>
                <a:latin typeface="Microsoft YaHei"/>
                <a:ea typeface="Microsoft YaHei"/>
              </a:rPr>
              <a:t>360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828800" y="5810250"/>
            <a:ext cx="954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项自动化断言全部通过，另有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25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项线上只读冒烟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28800" y="6067425"/>
            <a:ext cx="954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4E8"/>
                </a:solidFill>
                <a:latin typeface="Microsoft YaHei"/>
                <a:ea typeface="Microsoft YaHei"/>
              </a:rPr>
              <a:t>覆盖访问控制、数据隔离、任务配额、静态托管安全、执行沙箱隔离与凭据链路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4" name="" descr="&lt;Slide style={{ background: '#FFFFFF' }}&gt;&#10;  &lt;Box style={{ flexDirection: 'row', flex: 1 }}&gt;&#10;    &lt;Box style={{ width: 320, background: '#0E3F8C', padding: '52px 38px', gap: 20 }}&gt;&#10;      &lt;Text style={{ fontSize: 36, fontWeight: 'bold', color: '#FFFFFF', lineHeight: 1.3 }}&gt;功能达成&lt;/Text&gt;&#10;      &lt;Box style={{ width: 56, height: 4, background: '#FFC107' }} /&gt;&#10;      &lt;Text style={{ fontSize: 18, color: '#C9D9F0', lineHeight: 1.8 }}&gt;&#10;        任务书要求的核心功能已全部落地并对外可访问，并在鉴权、隔离与配额上做了超出的工程化加固。&#10;      &lt;/Text&gt;&#10;    &lt;/Box&gt;&#10;    &lt;Box style={{ flex: 1, padding: '46px 52px', gap: 16 }}&gt;&#10;      &lt;Table&#10;        style={{ width: '100%', height: 500 }}&#10;        defaultTextStyle={{ fontSize: 16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核心功能', textStyle: { bold: true, color: '#FFFFFF' }, cellStyle: { background: { color: '#1E4FA8' } } },&#10;            { text: '实现状态', textStyle: { bold: true, color: '#FFFFFF' }, cellStyle: { background: { color: '#1E4FA8' } } },&#10;          ],&#10;          ['对话式需求解析 + 多轮澄清', { text: '已完成', textStyle: { bold: true, color: '#1E4FA8' } }],&#10;          ['代码生成（DeepSeek + RAG 知识库）', { text: '已完成', textStyle: { bold: true, color: '#1E4FA8' } }],&#10;          ['沙箱执行（可插拔后端）', { text: '已完成（真实 GEE）', textStyle: { bold: true, color: '#1D9E75' } }],&#10;          ['自动调试（错误分类 / 重试）', { text: '已完成', textStyle: { bold: true, color: '#1E4FA8' } }],&#10;          ['地图 + 图表 + 报告导出', { text: '已完成', textStyle: { bold: true, color: '#1E4FA8' } }],&#10;          ['sqlite 持久化 + 历史 + 常用区域', { text: '已完成', textStyle: { bold: true, color: '#1E4FA8' } }],&#10;          ['注册登录 + 多用户数据隔离', { text: '已完成', textStyle: { bold: true, color: '#1E4FA8' } }],&#10;          ['任务配额与并发限制', { text: '已完成', textStyle: { bold: true, color: '#1E4FA8' } }],&#10;          ['对外访问（cpolar 公网映射）', { text: '已完成', textStyle: { bold: true, color: '#1E4FA8' } }],&#10;        ]}&#10;      /&gt;&#10;      &lt;Box style={{ background: '#E8EFF8', borderRadius: 8, padding: '12px 20px' }}&gt;&#10;        &lt;Text style={{ fontSize: 16, color: '#0E3F8C' }}&gt;判断：核心链路端到端可跑、可对外访问、有完整技术文档，交付完整度已满足任务书要求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61950" y="495300"/>
            <a:ext cx="23241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功能达成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61950" y="12287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61950" y="1457325"/>
            <a:ext cx="232410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C9D9F0"/>
                </a:solidFill>
                <a:latin typeface="Microsoft YaHei"/>
                <a:ea typeface="Microsoft YaHei"/>
              </a:rPr>
              <a:t>任务书要求的核心功能已全部落地并对外可访问，并在鉴权、隔离与配额上做了超出的工程化加固。</a:t>
            </a:r>
            <a:endParaRPr/>
          </a:p>
        </p:txBody>
      </p:sp>
      <p:graphicFrame>
        <p:nvGraphicFramePr>
          <p:cNvPr id="60" name=""/>
          <p:cNvGraphicFramePr/>
          <p:nvPr/>
        </p:nvGraphicFramePr>
        <p:xfrm rot="0" flipH="0" flipV="0">
          <a:off x="3543300" y="438150"/>
          <a:ext cx="8153400" cy="4762500"/>
        </p:xfrm>
        <a:graphic>
          <a:graphicData uri="http://schemas.openxmlformats.org/drawingml/2006/table">
            <a:tbl>
              <a:tblGrid>
                <a:gridCol w="5286430">
                  <a:extLst>
                    <a:ext uri="{9D8B030D-6E8A-4147-A177-3AD203B41FA5}">
                      <a16:colId val="1"/>
                    </a:ext>
                  </a:extLst>
                </a:gridCol>
                <a:gridCol w="286697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核心功能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实现状态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对话式需求解析 + 多轮澄清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代码生成（DeepSeek + RAG 知识库）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沙箱执行（可插拔后端）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D9E75"/>
                          </a:solidFill>
                          <a:latin typeface="Microsoft YaHei"/>
                          <a:ea typeface="Microsoft YaHei"/>
                        </a:rPr>
                        <a:t>已完成（真实 GEE）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自动调试（错误分类 / 重试）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地图 + 图表 + 报告导出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sqlite 持久化 + 历史 + 常用区域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注册登录 + 多用户数据隔离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任务配额与并发限制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76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对外访问（cpolar 公网映射）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61" name=""/>
          <p:cNvSpPr/>
          <p:nvPr/>
        </p:nvSpPr>
        <p:spPr>
          <a:xfrm rot="0" flipH="0" flipV="0">
            <a:off x="3543300" y="5353050"/>
            <a:ext cx="8153400" cy="419100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733800" y="5467350"/>
            <a:ext cx="777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判断：核心链路端到端可跑、可对外访问、有完整技术文档，交付完整度已满足任务书要求。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style={{ background: '#FFFFFF', padding: '40px 56px' }}&gt;&#10;  &lt;Box style={{ flexDirection: 'row', alignItems: 'center', gap: 16, marginBottom: 18 }}&gt;&#10;    &lt;Box style={{ width: 6, height: 32, background: '#1E4FA8' }} /&gt;&#10;    &lt;Text style={{ fontSize: 32, fontWeight: 'bold', color: '#1A2230' }}&gt;难点、借鉴与展望&lt;/Text&gt;&#10;  &lt;/Box&gt;&#10;  &lt;Box style={{ flexDirection: 'row', flex: 1, gap: 32 }}&gt;&#10;    &lt;Box style={{ flex: 3, gap: 16 }}&gt;&#10;      &lt;Text style={{ fontSize: 22, fontWeight: 'bold', color: '#0E3F8C' }}&gt;难点与应对&lt;/Text&gt;&#10;      {[&#10;        { d: 'GEE 国内网络不可达', r: '可插拔后端：真实 GEE 与离线样例一键切换', s: '已闭环' },&#10;        { d: 'LLM 代码一次成功率', r: 'RAG 知识库 + 任务模板 + 自动调试重试', s: '已闭环' },&#10;        { d: '公网安全与额度滥用', r: '全接口鉴权 + 三处漏洞修复 + 四层任务配额', s: '已闭环' },&#10;      ].map((x, i) =&gt; (&#10;        &lt;Box key={i} style={{ flexDirection: 'row', alignItems: 'center', gap: 16, background: '#F7F9FC', border: '1px solid #D6DCE5', borderRadius: 10, padding: '16px 20px' }}&gt;&#10;          &lt;Box style={{ width: 34, height: 34, background: '#D9534F', borderRadius: 6, justifyContent: 'center', alignItems: 'center' }}&gt;&#10;            &lt;Text style={{ fontSize: 16, fontWeight: 'bold', color: '#FFFFFF' }}&gt;{i + 1}&lt;/Text&gt;&#10;          &lt;/Box&gt;&#10;          &lt;Box style={{ flex: 1, gap: 4 }}&gt;&#10;            &lt;Text style={{ fontSize: 20, fontWeight: 'bold', color: '#1A2230' }}&gt;{x.d}&lt;/Text&gt;&#10;            &lt;Text style={{ fontSize: 16, color: '#4A5568' }}&gt;应对：{x.r}&lt;/Text&gt;&#10;          &lt;/Box&gt;&#10;          &lt;Box style={{ background: '#E3F3EC', borderRadius: 6, padding: '4px 12px' }}&gt;&#10;            &lt;Text style={{ fontSize: 14, fontWeight: 'bold', color: '#1D9E75' }}&gt;{x.s}&lt;/Text&gt;&#10;          &lt;/Box&gt;&#10;        &lt;/Box&gt;&#10;      ))}&#10;    &lt;/Box&gt;&#10;    &lt;Box style={{ flex: 2, gap: 18 }}&gt;&#10;      &lt;Box style={{ background: '#F0F5FC', borderRadius: 10, border: '1px solid #D6DCE5', padding: '20px 22px', gap: 12 }}&gt;&#10;        &lt;Text style={{ fontSize: 20, fontWeight: 'bold', color: '#0E3F8C' }}&gt;借鉴 Earth Agent&lt;/Text&gt;&#10;        {['Ask / Do 咨询执行双模式', 'Custom Instructions 偏好设置', 'Agent Profiles 助手画像', 'geeDocs 数据集知识库'].map((t, i) =&gt; (&#10;          &lt;Box key={i} style={{ flexDirection: 'row', alignItems: 'center', gap: 10 }}&gt;&#10;            &lt;Box style={{ width: 8, height: 8, borderRadius: 4, background: '#1E4FA8' }} /&gt;&#10;            &lt;Text style={{ fontSize: 16, color: '#1A2230' }}&gt;{t}&lt;/Text&gt;&#10;          &lt;/Box&gt;&#10;        ))}&#10;      &lt;/Box&gt;&#10;      &lt;Box style={{ background: '#F7F9FC', borderRadius: 10, border: '1px solid #D6DCE5', padding: '20px 22px', gap: 10 }}&gt;&#10;        &lt;Text style={{ fontSize: 20, fontWeight: 'bold', color: '#0E3F8C' }}&gt;展望 Roadmap&lt;/Text&gt;&#10;        &lt;Text style={{ fontSize: 16, color: '#4A5568', lineHeight: 1.7 }}&gt;&#10;          近期：固定评测集复核指标 · 移动端适配 · 报告导出扩展为 PDF&#10;        &lt;/Text&gt;&#10;        &lt;Text style={{ fontSize: 16, color: '#4A5568', lineHeight: 1.7 }}&gt;&#10;          长期：MCP Server 化 · 多场景扩展（ArcGIS / 无人机 / 灾害评估）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533400" y="4191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42950" y="381000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难点、借鉴与展望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33400" y="92392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难点与应对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33400" y="1333500"/>
            <a:ext cx="6496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723900" y="15525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16192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200150" y="1485900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GEE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国内网络不可达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200150" y="175260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应对：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可插拔后端：真实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与离线样例一键切换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210300" y="1600200"/>
            <a:ext cx="628650" cy="238125"/>
          </a:xfrm>
          <a:prstGeom prst="roundRect">
            <a:avLst>
              <a:gd name="adj" fmla="val 24000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324600" y="1638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已闭环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533400" y="2247900"/>
            <a:ext cx="6496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723900" y="24669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25336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200150" y="2400300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LLM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代码一次成功率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200150" y="266700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应对：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RAG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知识库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任务模板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自动调试重试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210300" y="2514600"/>
            <a:ext cx="628650" cy="238125"/>
          </a:xfrm>
          <a:prstGeom prst="roundRect">
            <a:avLst>
              <a:gd name="adj" fmla="val 24000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324600" y="25527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已闭环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33400" y="3162300"/>
            <a:ext cx="6496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23900" y="3381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34480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200150" y="3314700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公网安全与额度滥用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200150" y="3581400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应对：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全接口鉴权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三处漏洞修复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四层任务配额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210300" y="3429000"/>
            <a:ext cx="628650" cy="238125"/>
          </a:xfrm>
          <a:prstGeom prst="roundRect">
            <a:avLst>
              <a:gd name="adj" fmla="val 24000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324600" y="34671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已闭环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7334250" y="923925"/>
            <a:ext cx="4324350" cy="1828800"/>
          </a:xfrm>
          <a:prstGeom prst="roundRect">
            <a:avLst>
              <a:gd name="adj" fmla="val 520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543800" y="1114425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借鉴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Earth Agent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543800" y="1514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715250" y="1457325"/>
            <a:ext cx="1743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Ask / Do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咨询执行双模式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543800" y="1819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715250" y="17621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Custom Instructions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偏好设置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543800" y="212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715250" y="20669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Agent Profiles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助手画像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543800" y="2428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715250" y="2371725"/>
            <a:ext cx="1590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geeDocs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数据集知识库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334250" y="2924175"/>
            <a:ext cx="4324350" cy="2057400"/>
          </a:xfrm>
          <a:prstGeom prst="roundRect">
            <a:avLst>
              <a:gd name="adj" fmla="val 46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543800" y="3114675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展望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Roadmap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543800" y="3438525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近期：固定评测集复核指标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移动端适配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报告导出扩展为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PDF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543800" y="4162425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长期：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MCP Server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多场景扩展（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ArcGIS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无人机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灾害评估）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 background: 'linear-gradient(135deg, #0E3F8C 0%, #1E4FA8 55%, #3D7BD9 100%)' }}&gt;&#10;  &lt;Box style={{ flex: 1, justifyContent: 'center', alignItems: 'center', gap: 20 }}&gt;&#10;    &lt;Text style={{ fontSize: 72, fontWeight: 'bold', color: '#FFFFFF', letterSpacing: 10 }}&gt;感谢聆听&lt;/Text&gt;&#10;    &lt;Text style={{ fontSize: 30, color: '#E8EFF8', letterSpacing: 4 }}&gt;敬请指正&lt;/Text&gt;&#10;    &lt;Box style={{ width: 84, height: 4, background: '#FFC107', marginTop: 12 }} /&gt;&#10;    &lt;Text style={{ fontSize: 22, color: '#C9D9F0', letterSpacing: 1, marginTop: 10 }}&gt;&#10;      让遥感分析普惠每一位一线工作者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55000">
                <a:srgbClr val="1E4FA8"/>
              </a:gs>
              <a:gs pos="100000">
                <a:srgbClr val="3D7BD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33900" y="2305050"/>
            <a:ext cx="31242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750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448300" y="3324225"/>
            <a:ext cx="1295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spc="300">
                <a:solidFill>
                  <a:srgbClr val="E8EFF8"/>
                </a:solidFill>
                <a:latin typeface="Microsoft YaHei"/>
                <a:ea typeface="Microsoft YaHei"/>
              </a:rPr>
              <a:t>敬请指正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695950" y="3971925"/>
            <a:ext cx="8001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57700" y="4295775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75">
                <a:solidFill>
                  <a:srgbClr val="C9D9F0"/>
                </a:solidFill>
                <a:latin typeface="Microsoft YaHei"/>
                <a:ea typeface="Microsoft YaHei"/>
              </a:rPr>
              <a:t>让遥感分析普惠每一位一线工作者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background: '#FFFFFF' }}&gt;&#13;&#10;  &lt;Box style={{ flexDirection: 'row', flex: 1 }}&gt;&#13;&#10;    &lt;Box style={{ width: 340, background: '#0E3F8C', padding: '60px 42px', gap: 22 }}&gt;&#13;&#10;      &lt;Text style={{ fontSize: 38, fontWeight: 'bold', color: '#FFFFFF', lineHeight: 1.3 }}&gt;项目目标&lt;/Text&gt;&#13;&#10;      &lt;Box style={{ width: 56, height: 4, background: '#FFC107' }} /&gt;&#13;&#10;      &lt;Text style={{ fontSize: 19, color: '#C9D9F0', lineHeight: 1.8 }}&gt;&#13;&#10;        开发一款对话式卫星遥感影像智能分析 Web 应用，让用户零代码完成常见遥感分析任务。&#13;&#10;      &lt;/Text&gt;&#13;&#10;      &lt;Box style={{ background: '#0A2F6B', borderRadius: 8, padding: '18px 20px', marginTop: 8, gap: 8 }}&gt;&#13;&#10;        &lt;Text style={{ fontSize: 17, fontWeight: 'bold', color: '#FFC107' }}&gt;当前进度&lt;/Text&gt;&#13;&#10;        &lt;Text style={{ fontSize: 16, color: '#C9D9F0', lineHeight: 1.7 }}&gt;&#13;&#10;          核心链路已在真实 Earth Engine 上跑通，四个量化指标均由固定评测集实测（两轮独立复现）。&#13;&#10;        &lt;/Text&gt;&#13;&#10;      &lt;/Box&gt;&#13;&#10;    &lt;/Box&gt;&#13;&#10;    &lt;Box style={{ flex: 1, padding: '44px 52px', gap: 20, justifyContent: 'center' }}&gt;&#13;&#10;      &lt;Box style={{ flexDirection: 'row', gap: 20, flex: 1 }}&gt;&#13;&#10;        &lt;Box style={{ flex: 1, background: '#F0F5FC', borderRadius: 10, padding: '22px 24px', justifyContent: 'center', gap: 7 }}&gt;&#13;&#10;          &lt;Text style={{ fontSize: 54, fontWeight: 'bold', color: '#1E4FA8' }}&gt;≥90%&lt;/Text&gt;&#13;&#10;          &lt;Text style={{ fontSize: 19, fontWeight: 'bold', color: '#1A2230' }}&gt;意图识别准确率&lt;/Text&gt;&#13;&#10;          &lt;Box style={{ flexDirection: 'row', alignItems: 'center', gap: 8, marginTop: 2 }}&gt;&#13;&#10;            &lt;Box style={{ background: '#E3F3EC', borderRadius: 4, padding: '2px 9px' }}&gt;&#13;&#10;              &lt;Text style={{ fontSize: 14, fontWeight: 'bold', color: '#1D9E75' }}&gt;实测 39 / 39&lt;/Text&gt;&#13;&#10;            &lt;/Box&gt;&#13;&#10;            &lt;Text style={{ fontSize: 13, color: '#8B97A8' }}&gt;3 轮 × 13 条&lt;/Text&gt;&#13;&#10;          &lt;/Box&gt;&#13;&#10;        &lt;/Box&gt;&#13;&#10;        &lt;Box style={{ flex: 1, background: '#F0F5FC', borderRadius: 10, padding: '22px 24px', justifyContent: 'center', gap: 7 }}&gt;&#13;&#10;          &lt;Text style={{ fontSize: 54, fontWeight: 'bold', color: '#1E4FA8' }}&gt;≥70%&lt;/Text&gt;&#13;&#10;          &lt;Text style={{ fontSize: 19, fontWeight: 'bold', color: '#1A2230' }}&gt;一次成功率&lt;/Text&gt;&#13;&#10;          &lt;Box style={{ flexDirection: 'row', alignItems: 'center', gap: 8, marginTop: 2 }}&gt;&#13;&#10;            &lt;Box style={{ background: '#E3F3EC', borderRadius: 4, padding: '2px 9px' }}&gt;&#13;&#10;              &lt;Text style={{ fontSize: 14, fontWeight: 'bold', color: '#1D9E75' }}&gt;实测 7~8 / 8&lt;/Text&gt;&#13;&#10;            &lt;/Box&gt;&#13;&#10;            &lt;Text style={{ fontSize: 13, color: '#8B97A8' }}&gt;两轮独立复现&lt;/Text&gt;&#13;&#10;          &lt;/Box&gt;&#13;&#10;        &lt;/Box&gt;&#13;&#10;      &lt;/Box&gt;&#13;&#10;      &lt;Box style={{ flexDirection: 'row', gap: 20, flex: 1 }}&gt;&#13;&#10;        &lt;Box style={{ flex: 1, background: '#F0F5FC', borderRadius: 10, padding: '22px 24px', justifyContent: 'center', gap: 7 }}&gt;&#13;&#10;          &lt;Text style={{ fontSize: 54, fontWeight: 'bold', color: '#1E4FA8' }}&gt;≥85%&lt;/Text&gt;&#13;&#10;          &lt;Text style={{ fontSize: 19, fontWeight: 'bold', color: '#1A2230' }}&gt;调试后完成率&lt;/Text&gt;&#13;&#10;          &lt;Box style={{ flexDirection: 'row', alignItems: 'center', gap: 8, marginTop: 2 }}&gt;&#13;&#10;            &lt;Box style={{ background: '#E3F3EC', borderRadius: 4, padding: '2px 9px' }}&gt;&#13;&#10;              &lt;Text style={{ fontSize: 14, fontWeight: 'bold', color: '#1D9E75' }}&gt;实测 7~8 / 8&lt;/Text&gt;&#13;&#10;            &lt;/Box&gt;&#13;&#10;            &lt;Text style={{ fontSize: 13, color: '#8B97A8' }}&gt;两轮 · 压线达标&lt;/Text&gt;&#13;&#10;          &lt;/Box&gt;&#13;&#10;        &lt;/Box&gt;&#13;&#10;        &lt;Box style={{ flex: 1, background: '#F0F5FC', borderRadius: 10, padding: '22px 24px', justifyContent: 'center', gap: 7 }}&gt;&#13;&#10;          &lt;Text style={{ fontSize: 54, fontWeight: 'bold', color: '#1E4FA8' }}&gt;≤60s&lt;/Text&gt;&#13;&#10;          &lt;Text style={{ fontSize: 19, fontWeight: 'bold', color: '#1A2230' }}&gt;典型任务耗时&lt;/Text&gt;&#13;&#10;          &lt;Box style={{ flexDirection: 'row', alignItems: 'center', gap: 8, marginTop: 2 }}&gt;&#13;&#10;            &lt;Box style={{ background: '#E3F3EC', borderRadius: 4, padding: '2px 9px' }}&gt;&#13;&#10;              &lt;Text style={{ fontSize: 14, fontWeight: 'bold', color: '#1D9E75' }}&gt;实测 47.5~53.2s&lt;/Text&gt;&#13;&#10;            &lt;/Box&gt;&#13;&#10;            &lt;Text style={{ fontSize: 13, color: '#8B97A8' }}&gt;两轮中位数 · 8 条&lt;/Text&gt;&#13;&#10;          &lt;/Box&gt;&#13;&#10;        &lt;/Box&gt;&#13;&#10;      &lt;/Box&gt;&#13;&#10;      &lt;Box style={{ background: '#E8EFF8', borderRadius: 8, padding: '13px 20px' }}&gt;&#13;&#10;        &lt;Text style={{ fontSize: 16, color: '#0E3F8C' }}&gt;&#13;&#10;          说明：四指标均由固定评测集实测（13 条意图 + 8 条端到端），同日独立跑两轮，故按区间报数；耗时取中位数，单条最长 82s。&#13;&#10;        &lt;/Text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00050" y="571500"/>
            <a:ext cx="24384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项目目标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00050" y="1352550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00050" y="1600200"/>
            <a:ext cx="24384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C9D9F0"/>
                </a:solidFill>
                <a:latin typeface="Microsoft YaHei"/>
                <a:ea typeface="Microsoft YaHei"/>
              </a:rPr>
              <a:t>开发一款对话式卫星遥感影像智能分析</a:t>
            </a:r>
            <a:r>
              <a:rPr lang="en-US" sz="1425">
                <a:solidFill>
                  <a:srgbClr val="C9D9F0"/>
                </a:solidFill>
                <a:latin typeface="Microsoft YaHei"/>
                <a:ea typeface="Microsoft YaHei"/>
              </a:rPr>
              <a:t> Web </a:t>
            </a:r>
            <a:r>
              <a:rPr lang="zh-CN" sz="1425">
                <a:solidFill>
                  <a:srgbClr val="C9D9F0"/>
                </a:solidFill>
                <a:latin typeface="Microsoft YaHei"/>
                <a:ea typeface="Microsoft YaHei"/>
              </a:rPr>
              <a:t>应用，让用户零代码完成常见遥感分析任务。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00050" y="3457575"/>
            <a:ext cx="2438400" cy="1866900"/>
          </a:xfrm>
          <a:prstGeom prst="roundRect">
            <a:avLst>
              <a:gd name="adj" fmla="val 4082"/>
            </a:avLst>
          </a:prstGeom>
          <a:solidFill>
            <a:srgbClr val="0A2F6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90550" y="3629025"/>
            <a:ext cx="2057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当前进度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90550" y="3905250"/>
            <a:ext cx="20574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9F0"/>
                </a:solidFill>
                <a:latin typeface="Microsoft YaHei"/>
                <a:ea typeface="Microsoft YaHei"/>
              </a:rPr>
              <a:t>核心链路已在真实</a:t>
            </a:r>
            <a:r>
              <a:rPr lang="en-US" sz="1200">
                <a:solidFill>
                  <a:srgbClr val="C9D9F0"/>
                </a:solidFill>
                <a:latin typeface="Microsoft YaHei"/>
                <a:ea typeface="Microsoft YaHei"/>
              </a:rPr>
              <a:t> Earth Engine </a:t>
            </a:r>
            <a:r>
              <a:rPr lang="zh-CN" sz="1200">
                <a:solidFill>
                  <a:srgbClr val="C9D9F0"/>
                </a:solidFill>
                <a:latin typeface="Microsoft YaHei"/>
                <a:ea typeface="Microsoft YaHei"/>
              </a:rPr>
              <a:t>上跑通，四个量化指标均由固定评测集实测（两轮独立复现）。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733800" y="419100"/>
            <a:ext cx="3886200" cy="2514600"/>
          </a:xfrm>
          <a:prstGeom prst="roundRect">
            <a:avLst>
              <a:gd name="adj" fmla="val 378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962400" y="1085850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≥90%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962400" y="177165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意图识别准确率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962400" y="2076450"/>
            <a:ext cx="952500" cy="200025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048125" y="209550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实测</a:t>
            </a:r>
            <a:r>
              <a:rPr lang="en-US" sz="1050" b="1">
                <a:solidFill>
                  <a:srgbClr val="1D9E75"/>
                </a:solidFill>
                <a:latin typeface="Microsoft YaHei"/>
                <a:ea typeface="Microsoft YaHei"/>
              </a:rPr>
              <a:t> 39 / 39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991100" y="2105025"/>
            <a:ext cx="70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轮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× 13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810500" y="419100"/>
            <a:ext cx="3886200" cy="2514600"/>
          </a:xfrm>
          <a:prstGeom prst="roundRect">
            <a:avLst>
              <a:gd name="adj" fmla="val 378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039100" y="1085850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≥70%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39100" y="1771650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一次成功率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039100" y="2076450"/>
            <a:ext cx="971550" cy="200025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124825" y="2095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实测</a:t>
            </a:r>
            <a:r>
              <a:rPr lang="en-US" sz="1050" b="1">
                <a:solidFill>
                  <a:srgbClr val="1D9E75"/>
                </a:solidFill>
                <a:latin typeface="Microsoft YaHei"/>
                <a:ea typeface="Microsoft YaHei"/>
              </a:rPr>
              <a:t> 7~8 / 8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086850" y="21050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两轮独立复现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733800" y="3124200"/>
            <a:ext cx="3886200" cy="2505075"/>
          </a:xfrm>
          <a:prstGeom prst="roundRect">
            <a:avLst>
              <a:gd name="adj" fmla="val 380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962400" y="3781425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≥85%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962400" y="4467225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调试后完成率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3962400" y="4772025"/>
            <a:ext cx="971550" cy="200025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048125" y="47910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实测</a:t>
            </a:r>
            <a:r>
              <a:rPr lang="en-US" sz="1050" b="1">
                <a:solidFill>
                  <a:srgbClr val="1D9E75"/>
                </a:solidFill>
                <a:latin typeface="Microsoft YaHei"/>
                <a:ea typeface="Microsoft YaHei"/>
              </a:rPr>
              <a:t> 7~8 / 8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010150" y="480060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两轮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压线达标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810500" y="3124200"/>
            <a:ext cx="3886200" cy="2505075"/>
          </a:xfrm>
          <a:prstGeom prst="roundRect">
            <a:avLst>
              <a:gd name="adj" fmla="val 380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39100" y="3781425"/>
            <a:ext cx="3429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≤60s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039100" y="4467225"/>
            <a:ext cx="342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典型任务耗时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039100" y="4772025"/>
            <a:ext cx="1219200" cy="200025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124825" y="4791075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D9E75"/>
                </a:solidFill>
                <a:latin typeface="Microsoft YaHei"/>
                <a:ea typeface="Microsoft YaHei"/>
              </a:rPr>
              <a:t>实测</a:t>
            </a:r>
            <a:r>
              <a:rPr lang="en-US" sz="1050" b="1">
                <a:solidFill>
                  <a:srgbClr val="1D9E75"/>
                </a:solidFill>
                <a:latin typeface="Microsoft YaHei"/>
                <a:ea typeface="Microsoft YaHei"/>
              </a:rPr>
              <a:t> 47.5~53.2s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334500" y="4800600"/>
            <a:ext cx="962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两轮中位数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8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733800" y="5819775"/>
            <a:ext cx="7962900" cy="619125"/>
          </a:xfrm>
          <a:prstGeom prst="roundRect">
            <a:avLst>
              <a:gd name="adj" fmla="val 12308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924300" y="5943600"/>
            <a:ext cx="75819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说明：四指标均由固定评测集实测（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13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条意图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+ 8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条端到端），同日独立跑两轮，故按区间报数；耗时取中位数，单条最长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82s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44" name="" descr="&lt;Slide style={{ background: '#FFFFFF', padding: '40px 56px' }}&gt;&#10;  &lt;Box style={{ flexDirection: 'row', alignItems: 'center', gap: 16, marginBottom: 10 }}&gt;&#10;    &lt;Box style={{ width: 6, height: 32, background: '#1E4FA8' }} /&gt;&#10;    &lt;Text style={{ fontSize: 32, fontWeight: 'bold', color: '#1A2230' }}&gt;工程化加固&lt;/Text&gt;&#10;    &lt;Text style={{ fontSize: 16, color: '#8B97A8' }}&gt;从「能跑通」到「敢放到公网」&lt;/Text&gt;&#10;  &lt;/Box&gt;&#10;  &lt;Box style={{ flexDirection: 'row', flex: 1, gap: 22, marginTop: 12 }}&gt;&#10;    &lt;Box style={{ flex: 1, background: '#F7F9FC', borderRadius: 12, border: '1px solid #D6DCE5', overflow: 'hidden' }}&gt;&#10;      &lt;Box style={{ height: 6, background: '#1E4FA8' }} /&gt;&#10;      &lt;Box style={{ padding: '26px 26px 22px', gap: 14, flex: 1 }}&gt;&#10;        &lt;Text style={{ fontSize: 23, fontWeight: 'bold', color: '#0E3F8C' }}&gt;多用户数据隔离&lt;/Text&gt;&#10;        &lt;Box style={{ gap: 11 }}&gt;&#10;          {[&#10;            '三张业务表统一挂 user_id，归属由服务端写入',&#10;            '越权一律返 404 而非 403，避免探测出 ID 是否存在',&#10;            '旧库启动自动迁移，历史数据划归管理员',&#10;          ].map((t, i) =&gt; (&#10;            &lt;Box key={i} style={{ flexDirection: 'row', gap: 10 }}&gt;&#10;              &lt;Box style={{ width: 6, height: 6, borderRadius: 3, background: '#1E4FA8', marginTop: 9 }} /&gt;&#10;              &lt;Text style={{ fontSize: 16, color: '#1A2230', lineHeight: 1.6, flex: 1 }}&gt;{t}&lt;/Text&gt;&#10;            &lt;/Box&gt;&#10;          ))}&#10;        &lt;/Box&gt;&#10;      &lt;/Box&gt;&#10;    &lt;/Box&gt;&#10;    &lt;Box style={{ flex: 1, background: '#F7F9FC', borderRadius: 12, border: '1px solid #D6DCE5', overflow: 'hidden' }}&gt;&#10;      &lt;Box style={{ height: 6, background: '#3D7BD9' }} /&gt;&#10;      &lt;Box style={{ padding: '26px 26px 22px', gap: 14, flex: 1 }}&gt;&#10;        &lt;Text style={{ fontSize: 23, fontWeight: 'bold', color: '#0E3F8C' }}&gt;任务配额四层&lt;/Text&gt;&#10;        &lt;Box style={{ gap: 11 }}&gt;&#10;          {[&#10;            '全局并发 3 · 单用户并发 2 · 每小时 20 · 每天 60',&#10;            '超限返 429 并带 Retry-After，前端给出明确提示',&#10;            '额度按库里记录统计，重启不清零、换部署绕不过',&#10;          ].map((t, i) =&gt; (&#10;            &lt;Box key={i} style={{ flexDirection: 'row', gap: 10 }}&gt;&#10;              &lt;Box style={{ width: 6, height: 6, borderRadius: 3, background: '#3D7BD9', marginTop: 9 }} /&gt;&#10;              &lt;Text style={{ fontSize: 16, color: '#1A2230', lineHeight: 1.6, flex: 1 }}&gt;{t}&lt;/Text&gt;&#10;            &lt;/Box&gt;&#10;          ))}&#10;        &lt;/Box&gt;&#10;      &lt;/Box&gt;&#10;    &lt;/Box&gt;&#10;    &lt;Box style={{ flex: 1, background: '#FDF3F3', borderRadius: 12, border: '1px solid #E8C4C4', overflow: 'hidden' }}&gt;&#10;      &lt;Box style={{ height: 6, background: '#D9534F' }} /&gt;&#10;      &lt;Box style={{ padding: '26px 26px 22px', gap: 14, flex: 1 }}&gt;&#10;        &lt;Text style={{ fontSize: 23, fontWeight: 'bold', color: '#B23B37' }}&gt;三处安全漏洞修复&lt;/Text&gt;&#10;        &lt;Box style={{ gap: 11 }}&gt;&#10;          {[&#10;            '路径穿越：兜底路由曾可匿名读走 .env 与整库',&#10;            '执行沙箱：生成代码曾能读取后端配置中的密钥',&#10;            'CORS 宽配置：任意来源曾被原样回显',&#10;          ].map((t, i) =&gt; (&#10;            &lt;Box key={i} style={{ flexDirection: 'row', gap: 10 }}&gt;&#10;              &lt;Box style={{ width: 6, height: 6, borderRadius: 3, background: '#D9534F', marginTop: 9 }} /&gt;&#10;              &lt;Text style={{ fontSize: 16, color: '#1A2230', lineHeight: 1.6, flex: 1 }}&gt;{t}&lt;/Text&gt;&#10;            &lt;/Box&gt;&#10;          ))}&#10;        &lt;/Box&gt;&#10;      &lt;/Box&gt;&#10;    &lt;/Box&gt;&#10;  &lt;/Box&gt;&#10;  &lt;Box style={{ flexDirection: 'row', alignItems: 'center', gap: 20, background: '#0E3F8C', borderRadius: 10, padding: '20px 30px', marginTop: 22 }}&gt;&#10;    &lt;Text style={{ fontSize: 46, fontWeight: 'bold', color: '#FFC107' }}&gt;382&lt;/Text&gt;&#10;    &lt;Box style={{ gap: 4, flex: 1 }}&gt;&#10;      &lt;Text style={{ fontSize: 19, fontWeight: 'bold', color: '#FFFFFF' }}&gt;项自动化断言：380 通过、2 按环境跳过，另有 25 项线上只读冒烟&lt;/Text&gt;&#10;      &lt;Text style={{ fontSize: 15, color: '#A8C4E8' }}&gt;覆盖访问控制、数据隔离、任务配额、静态托管安全、执行沙箱隔离、凭据链路与日期基准一致性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533400" y="4191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42950" y="381000"/>
            <a:ext cx="1524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工程化加固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419350" y="47625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从「能跑通」到「敢放到公网」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33400" y="962025"/>
            <a:ext cx="3571875" cy="4391025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533400" y="962025"/>
            <a:ext cx="3571875" cy="57150"/>
          </a:xfrm>
          <a:custGeom>
            <a:pathLst>
              <a:path w="375" h="6">
                <a:moveTo>
                  <a:pt x="363" y="0"/>
                </a:moveTo>
                <a:cubicBezTo>
                  <a:pt x="367" y="0"/>
                  <a:pt x="371" y="2"/>
                  <a:pt x="373" y="6"/>
                </a:cubicBezTo>
                <a:lnTo>
                  <a:pt x="2" y="6"/>
                </a:lnTo>
                <a:cubicBezTo>
                  <a:pt x="4" y="2"/>
                  <a:pt x="8" y="0"/>
                  <a:pt x="12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81050" y="1266825"/>
            <a:ext cx="3076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多用户数据隔离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81050" y="1752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33450" y="1666875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三张业务表统一挂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user_id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，归属由服务端写入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81050" y="2447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33450" y="2362200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越权一律返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404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而非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403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，避免探测出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ID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是否存在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81050" y="3143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33450" y="3057525"/>
            <a:ext cx="2924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旧库启动自动迁移，历史数据划归管理员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314825" y="962025"/>
            <a:ext cx="3562350" cy="4391025"/>
          </a:xfrm>
          <a:prstGeom prst="roundRect">
            <a:avLst>
              <a:gd name="adj" fmla="val 32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4314825" y="962025"/>
            <a:ext cx="3562350" cy="57150"/>
          </a:xfrm>
          <a:custGeom>
            <a:pathLst>
              <a:path w="374" h="6">
                <a:moveTo>
                  <a:pt x="362" y="0"/>
                </a:moveTo>
                <a:cubicBezTo>
                  <a:pt x="366" y="0"/>
                  <a:pt x="370" y="2"/>
                  <a:pt x="372" y="6"/>
                </a:cubicBezTo>
                <a:lnTo>
                  <a:pt x="2" y="6"/>
                </a:lnTo>
                <a:cubicBezTo>
                  <a:pt x="4" y="2"/>
                  <a:pt x="8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562475" y="1266825"/>
            <a:ext cx="3067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任务配额四层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562475" y="1752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714875" y="1666875"/>
            <a:ext cx="2914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全局并发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3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单用户并发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2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每小时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20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每天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60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562475" y="2447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714875" y="2362200"/>
            <a:ext cx="2914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超限返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429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并带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Retry-After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，前端给出明确提示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562475" y="3143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714875" y="3057525"/>
            <a:ext cx="2914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额度按库里记录统计，重启不清零、换部署绕不过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086725" y="962025"/>
            <a:ext cx="3571875" cy="4391025"/>
          </a:xfrm>
          <a:prstGeom prst="roundRect">
            <a:avLst>
              <a:gd name="adj" fmla="val 3200"/>
            </a:avLst>
          </a:prstGeom>
          <a:solidFill>
            <a:srgbClr val="FDF3F3"/>
          </a:solidFill>
          <a:ln w="12700">
            <a:solidFill>
              <a:srgbClr val="E8C4C4"/>
            </a:solidFill>
            <a:prstDash val="solid"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8086725" y="962025"/>
            <a:ext cx="3571875" cy="57150"/>
          </a:xfrm>
          <a:custGeom>
            <a:pathLst>
              <a:path w="375" h="6">
                <a:moveTo>
                  <a:pt x="363" y="0"/>
                </a:moveTo>
                <a:cubicBezTo>
                  <a:pt x="367" y="0"/>
                  <a:pt x="371" y="2"/>
                  <a:pt x="373" y="6"/>
                </a:cubicBezTo>
                <a:lnTo>
                  <a:pt x="2" y="6"/>
                </a:lnTo>
                <a:cubicBezTo>
                  <a:pt x="4" y="2"/>
                  <a:pt x="8" y="0"/>
                  <a:pt x="12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34375" y="1266825"/>
            <a:ext cx="3076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B23B37"/>
                </a:solidFill>
                <a:latin typeface="Microsoft YaHei"/>
                <a:ea typeface="Microsoft YaHei"/>
              </a:rPr>
              <a:t>三处安全漏洞修复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334375" y="1752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486775" y="1666875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路径穿越：兜底路由曾可匿名读走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.env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与整库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334375" y="2447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486775" y="2362200"/>
            <a:ext cx="2924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执行沙箱：生成代码曾能读取后端配置中的密钥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334375" y="3143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486775" y="3057525"/>
            <a:ext cx="2924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CORS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宽配置：任意来源曾被原样回显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33400" y="5562600"/>
            <a:ext cx="11125200" cy="914400"/>
          </a:xfrm>
          <a:prstGeom prst="roundRect">
            <a:avLst>
              <a:gd name="adj" fmla="val 1041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9150" y="5753100"/>
            <a:ext cx="819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C107"/>
                </a:solidFill>
                <a:latin typeface="Microsoft YaHei"/>
                <a:ea typeface="Microsoft YaHei"/>
              </a:rPr>
              <a:t>382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828800" y="5810250"/>
            <a:ext cx="954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项自动化断言：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380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通过、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按环境跳过，另有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25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项线上只读冒烟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828800" y="6067425"/>
            <a:ext cx="954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4E8"/>
                </a:solidFill>
                <a:latin typeface="Microsoft YaHei"/>
                <a:ea typeface="Microsoft YaHei"/>
              </a:rPr>
              <a:t>覆盖访问控制、数据隔离、任务配额、静态托管安全、执行沙箱隔离、凭据链路与日期基准一致性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2026-09-17T16:10:21Z</dcterms:created>
  <dcterms:modified xsi:type="dcterms:W3CDTF">2026-09-17T16:10:21Z</dcterms:modified>
</cp:coreProperties>
</file>