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4" Type="http://schemas.openxmlformats.org/officeDocument/2006/relationships/notesMaster" Target="notesMasters/notesMaster1.xml" /><Relationship Id="rId15" Type="http://schemas.openxmlformats.org/officeDocument/2006/relationships/presProps" Target="presProps.xml" /><Relationship Id="rId5" Type="http://schemas.openxmlformats.org/officeDocument/2006/relationships/slide" Target="slides/slide5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background: 'linear-gradient(135deg, #0E3F8C 0%, #1E4FA8 55%, #3D7BD9 100%)' }}&gt;&#10;  &lt;Box style={{ flex: 1, justifyContent: 'center', alignItems: 'center', padding: '0 90px' }}&gt;&#10;    &lt;Text style={{ fontSize: 22, color: '#A8C4E8', letterSpacing: 5, marginBottom: 22 }}&gt;&#10;      SATELLITE REMOTE SENSING INTELLIGENT ANALYSIS ASSISTANT&#10;    &lt;/Text&gt;&#10;    &lt;Text style={{ fontSize: 72, fontWeight: 'bold', color: '#FFFFFF', letterSpacing: 8, marginBottom: 28 }}&gt;&#10;      卫星遥感影像智能分析助手&#10;    &lt;/Text&gt;&#10;    &lt;Box style={{ width: 84, height: 4, background: '#FFC107', marginBottom: 28 }} /&gt;&#10;    &lt;Text style={{ fontSize: 28, color: '#E8EFF8', letterSpacing: 3 }}&gt;&#10;      对话式 · 零代码 · 智能体完整链路&#10;    &lt;/Text&gt;&#10;  &lt;/Box&gt;&#10;  &lt;Box style={{ flexDirection: 'row', justifyContent: 'space-between', alignItems: 'center', padding: '0 70px 40px' }}&gt;&#10;    &lt;Text style={{ fontSize: 18, color: '#A8C4E8' }}&gt;项目答辩汇报&lt;/Text&gt;&#10;    &lt;Text style={{ fontSize: 18, color: '#A8C4E8' }}&gt;2026 年 9 月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3F8C"/>
              </a:gs>
              <a:gs pos="55000">
                <a:srgbClr val="1E4FA8"/>
              </a:gs>
              <a:gs pos="100000">
                <a:srgbClr val="3D7BD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1514475" y="2038350"/>
            <a:ext cx="9163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spc="375">
                <a:solidFill>
                  <a:srgbClr val="A8C4E8"/>
                </a:solidFill>
                <a:latin typeface="Microsoft YaHei"/>
                <a:ea typeface="Microsoft YaHei"/>
              </a:rPr>
              <a:t>SATELLITE REMOTE SENSING INTELLIGENT ANALYSIS ASSISTANT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524000" y="2505075"/>
            <a:ext cx="91440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600">
                <a:solidFill>
                  <a:srgbClr val="FFFFFF"/>
                </a:solidFill>
                <a:latin typeface="Microsoft YaHei"/>
                <a:ea typeface="Microsoft YaHei"/>
              </a:rPr>
              <a:t>卫星遥感影像智能分析助手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5695950" y="3600450"/>
            <a:ext cx="8001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867150" y="3905250"/>
            <a:ext cx="44577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spc="225">
                <a:solidFill>
                  <a:srgbClr val="E8EFF8"/>
                </a:solidFill>
                <a:latin typeface="Microsoft YaHei"/>
                <a:ea typeface="Microsoft YaHei"/>
              </a:rPr>
              <a:t>对话式</a:t>
            </a:r>
            <a:r>
              <a:rPr lang="en-US" sz="2100" spc="225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2100" spc="225">
                <a:solidFill>
                  <a:srgbClr val="E8EFF8"/>
                </a:solidFill>
                <a:latin typeface="Microsoft YaHei"/>
                <a:ea typeface="Microsoft YaHei"/>
              </a:rPr>
              <a:t>零代码</a:t>
            </a:r>
            <a:r>
              <a:rPr lang="en-US" sz="2100" spc="225">
                <a:solidFill>
                  <a:srgbClr val="E8EFF8"/>
                </a:solidFill>
                <a:latin typeface="Microsoft YaHei"/>
                <a:ea typeface="Microsoft YaHei"/>
              </a:rPr>
              <a:t> · </a:t>
            </a:r>
            <a:r>
              <a:rPr lang="zh-CN" sz="2100" spc="225">
                <a:solidFill>
                  <a:srgbClr val="E8EFF8"/>
                </a:solidFill>
                <a:latin typeface="Microsoft YaHei"/>
                <a:ea typeface="Microsoft YaHei"/>
              </a:rPr>
              <a:t>智能体完整链路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66750" y="62674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A8C4E8"/>
                </a:solidFill>
                <a:latin typeface="Microsoft YaHei"/>
                <a:ea typeface="Microsoft YaHei"/>
              </a:rPr>
              <a:t>项目答辩汇报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525125" y="6267450"/>
            <a:ext cx="1000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A8C4E8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A8C4E8"/>
                </a:solidFill>
                <a:latin typeface="Microsoft YaHei"/>
                <a:ea typeface="Microsoft YaHei"/>
              </a:rPr>
              <a:t>年</a:t>
            </a:r>
            <a:r>
              <a:rPr lang="en-US" sz="1350">
                <a:solidFill>
                  <a:srgbClr val="A8C4E8"/>
                </a:solidFill>
                <a:latin typeface="Microsoft YaHei"/>
                <a:ea typeface="Microsoft YaHei"/>
              </a:rPr>
              <a:t> 9 </a:t>
            </a:r>
            <a:r>
              <a:rPr lang="zh-CN" sz="1350">
                <a:solidFill>
                  <a:srgbClr val="A8C4E8"/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6" name="" descr="&lt;Slide style={{ background: '#FFFFFF' }}&gt;&#10;  &lt;Box style={{ flexDirection: 'row', flex: 1 }}&gt;&#10;    &lt;Box style={{ width: 340, background: '#0E3F8C', justifyContent: 'center', padding: '60px 48px' }}&gt;&#10;      &lt;Text style={{ fontSize: 56, fontWeight: 'bold', color: '#FFFFFF', marginBottom: 14 }}&gt;目录&lt;/Text&gt;&#10;      &lt;Text style={{ fontSize: 20, color: '#A8C4E8', letterSpacing: 3 }}&gt;CONTENTS&lt;/Text&gt;&#10;      &lt;Box style={{ width: 48, height: 4, background: '#FFC107', marginTop: 24 }} /&gt;&#10;    &lt;/Box&gt;&#10;    &lt;Box style={{ flex: 1, justifyContent: 'center', padding: '40px 70px', gap: 44 }}&gt;&#10;      {[&#10;        { no: '01', t: '项目背景与目标', d: '背景问题 · 项目目标 · 量化指标' },&#10;        { no: '02', t: '技术方案', d: '系统架构 · 核心智能体链路 · 可插拔后端' },&#10;        { no: '03', t: '实现成果与总结', d: '功能达成 · 难点应对 · 借鉴与展望' },&#10;      ].map((s, i) =&gt; (&#10;        &lt;Box key={i} style={{ flexDirection: 'row', alignItems: 'center', gap: 26 }}&gt;&#10;          &lt;Box style={{ width: 66, height: 66, background: '#1E4FA8', borderRadius: 8, justifyContent: 'center', alignItems: 'center' }}&gt;&#10;            &lt;Text style={{ fontSize: 28, fontWeight: 'bold', color: '#FFFFFF' }}&gt;{s.no}&lt;/Text&gt;&#10;          &lt;/Box&gt;&#10;          &lt;Box style={{ gap: 6 }}&gt;&#10;            &lt;Text style={{ fontSize: 30, fontWeight: 'bold', color: '#1A2230' }}&gt;{s.t}&lt;/Text&gt;&#10;            &lt;Text style={{ fontSize: 18, color: '#4A5568' }}&gt;{s.d}&lt;/Text&gt;&#10;          &lt;/Box&gt;&#10;        &lt;/Box&gt;&#10;      ))}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57200" y="2790825"/>
            <a:ext cx="23241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57200" y="3571875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225">
                <a:solidFill>
                  <a:srgbClr val="A8C4E8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457200" y="4029075"/>
            <a:ext cx="4572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3905250" y="2066925"/>
            <a:ext cx="628650" cy="628650"/>
          </a:xfrm>
          <a:prstGeom prst="roundRect">
            <a:avLst>
              <a:gd name="adj" fmla="val 1212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057650" y="22193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781550" y="2076450"/>
            <a:ext cx="2343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项目背景与目标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781550" y="2476500"/>
            <a:ext cx="2343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背景问题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项目目标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量化指标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3905250" y="3114675"/>
            <a:ext cx="628650" cy="628650"/>
          </a:xfrm>
          <a:prstGeom prst="roundRect">
            <a:avLst>
              <a:gd name="adj" fmla="val 1212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4057650" y="326707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781550" y="3124200"/>
            <a:ext cx="3028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781550" y="3524250"/>
            <a:ext cx="30289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系统架构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核心智能体链路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可插拔后端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905250" y="4162425"/>
            <a:ext cx="628650" cy="628650"/>
          </a:xfrm>
          <a:prstGeom prst="roundRect">
            <a:avLst>
              <a:gd name="adj" fmla="val 1212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4057650" y="4314825"/>
            <a:ext cx="3333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781550" y="4171950"/>
            <a:ext cx="25146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实现成果与总结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781550" y="4572000"/>
            <a:ext cx="2514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功能达成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难点应对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·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借鉴与展望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84" name="" descr="&lt;Slide style={{ background: '#F7F9FC' }}&gt;&#10;  &lt;Box style={{ flexDirection: 'row', flex: 1 }}&gt;&#10;    &lt;Box style={{ width: 360, background: '#1E4FA8', justifyContent: 'center', alignItems: 'center' }}&gt;&#10;      &lt;Text style={{ fontSize: 220, fontWeight: 'bold', color: '#FFFFFF', opacity: 0.92 }}&gt;01&lt;/Text&gt;&#10;    &lt;/Box&gt;&#10;    &lt;Box style={{ flex: 1, justifyContent: 'center', padding: '0 84px', gap: 22 }}&gt;&#10;      &lt;Text style={{ fontSize: 50, fontWeight: 'bold', color: '#0E3F8C' }}&gt;项目背景与目标&lt;/Text&gt;&#10;      &lt;Box style={{ width: 64, height: 4, background: '#FFC107' }} /&gt;&#10;      &lt;Text style={{ fontSize: 22, color: '#4A5568', lineHeight: 1.6 }}&gt;背景问题：遥感分析门槛高，非编程用户难以上手&lt;/Text&gt;&#10;      &lt;Text style={{ fontSize: 22, color: '#4A5568', lineHeight: 1.6 }}&gt;项目目标：对话式零代码完成遥感分析&lt;/Text&gt;&#10;      &lt;Text style={{ fontSize: 22, color: '#4A5568', lineHeight: 1.6 }}&gt;量化指标：意图识别、一次成功率、调试完成率、响应时长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229100" y="2095500"/>
            <a:ext cx="71628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>
                <a:solidFill>
                  <a:srgbClr val="0E3F8C"/>
                </a:solidFill>
                <a:latin typeface="Microsoft YaHei"/>
                <a:ea typeface="Microsoft YaHei"/>
              </a:rPr>
              <a:t>项目背景与目标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4229100" y="28765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4229100" y="312420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背景问题：遥感分析门槛高，非编程用户难以上手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4229100" y="3743325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项目目标：对话式零代码完成遥感分析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229100" y="436245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量化指标：意图识别、一次成功率、调试完成率、响应时长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19100" y="2171700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93" name="" descr="&lt;Slide style={{ background: '#FFFFFF' }}&gt;&#10;  &lt;Box style={{ flexDirection: 'row', flex: 1 }}&gt;&#10;    &lt;Box style={{ width: 380, background: '#F0F5FC', padding: '64px 42px', gap: 24, borderRight: '1px solid #D6DCE5' }}&gt;&#10;      &lt;Text style={{ fontSize: 40, fontWeight: 'bold', color: '#0E3F8C', lineHeight: 1.3 }}&gt;项目背景与问题&lt;/Text&gt;&#10;      &lt;Box style={{ width: 56, height: 4, background: '#FFC107' }} /&gt;&#10;      &lt;Text style={{ fontSize: 20, color: '#4A5568', lineHeight: 1.8 }}&gt;&#10;        卫星遥感是森林砍伐监测、水体污染追踪、作物长势评估的核心手段，大量一线工作者依赖 Google Earth Engine（GEE）开展分析，却长期被编程门槛卡住。&#10;      &lt;/Text&gt;&#10;    &lt;/Box&gt;&#10;    &lt;Box style={{ flex: 1, padding: '52px 56px', gap: 24, justifyContent: 'center' }}&gt;&#10;      {[&#10;        { t: '编程门槛高', d: 'GEE 需要编程基础，遥感分析代码编写复杂、调试耗时，频繁试错严重拉低效率。' },&#10;        { t: '学习曲线陡峭', d: '生态学家、基层环保工作者等非技术用户难以直接上手，被迫依赖专业编程人员。' },&#10;        { t: '依赖导致延误', d: '常因无法自主完成分析而延误工作，业务周期被外包与沟通反复拉长。' },&#10;      ].map((p, i) =&gt; (&#10;        &lt;Box key={i} style={{ background: '#F7F9FC', border: '1px solid #D6DCE5', borderRadius: 10, padding: '22px 26px', flexDirection: 'row', gap: 18, alignItems: 'flex-start' }}&gt;&#10;          &lt;Box style={{ width: 38, height: 38, background: '#1E4FA8', borderRadius: 6, justifyContent: 'center', alignItems: 'center' }}&gt;&#10;            &lt;Text style={{ fontSize: 18, fontWeight: 'bold', color: '#FFFFFF' }}&gt;{i + 1}&lt;/Text&gt;&#10;          &lt;/Box&gt;&#10;          &lt;Box style={{ flex: 1, gap: 6 }}&gt;&#10;            &lt;Text style={{ fontSize: 24, fontWeight: 'bold', color: '#1A2230' }}&gt;{p.t}&lt;/Text&gt;&#10;            &lt;Text style={{ fontSize: 18, color: '#4A5568', lineHeight: 1.6 }}&gt;{p.d}&lt;/Text&gt;&#10;          &lt;/Box&gt;&#10;        &lt;/Box&gt;&#10;      ))}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0" y="0"/>
            <a:ext cx="3609975" cy="6858000"/>
          </a:xfrm>
          <a:prstGeom prst="rect">
            <a:avLst/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0" y="0"/>
            <a:ext cx="3619500" cy="6858000"/>
          </a:xfrm>
          <a:custGeom>
            <a:pathLst>
              <a:path w="380" h="720">
                <a:moveTo>
                  <a:pt x="379" y="0"/>
                </a:moveTo>
                <a:lnTo>
                  <a:pt x="380" y="0"/>
                </a:lnTo>
                <a:lnTo>
                  <a:pt x="380" y="720"/>
                </a:lnTo>
                <a:lnTo>
                  <a:pt x="379" y="720"/>
                </a:lnTo>
                <a:close/>
              </a:path>
            </a:pathLst>
          </a:custGeom>
          <a:solidFill>
            <a:srgbClr val="D6DCE5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00050" y="609600"/>
            <a:ext cx="2809875" cy="6000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000" b="1">
                <a:solidFill>
                  <a:srgbClr val="0E3F8C"/>
                </a:solidFill>
                <a:latin typeface="Microsoft YaHei"/>
                <a:ea typeface="Microsoft YaHei"/>
              </a:rPr>
              <a:t>项目背景与问题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400050" y="143827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00050" y="1704975"/>
            <a:ext cx="2809875" cy="2476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卫星遥感是森林砍伐监测、水体污染追踪、作物长势评估的核心手段，大量一线工作者依赖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Google Earth Engine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GEE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）开展分析，却长期被编程门槛卡住。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4152900" y="1571625"/>
            <a:ext cx="7505700" cy="1085850"/>
          </a:xfrm>
          <a:prstGeom prst="roundRect">
            <a:avLst>
              <a:gd name="adj" fmla="val 87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4400550" y="1781175"/>
            <a:ext cx="361950" cy="361950"/>
          </a:xfrm>
          <a:prstGeom prst="roundRect">
            <a:avLst>
              <a:gd name="adj" fmla="val 1578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4524375" y="18573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933950" y="1781175"/>
            <a:ext cx="6477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编程门槛高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4933950" y="2114550"/>
            <a:ext cx="64770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GEE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需要编程基础，遥感分析代码编写复杂、调试耗时，频繁试错严重拉低效率。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4152900" y="2886075"/>
            <a:ext cx="7505700" cy="1085850"/>
          </a:xfrm>
          <a:prstGeom prst="roundRect">
            <a:avLst>
              <a:gd name="adj" fmla="val 87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4400550" y="3095625"/>
            <a:ext cx="361950" cy="361950"/>
          </a:xfrm>
          <a:prstGeom prst="roundRect">
            <a:avLst>
              <a:gd name="adj" fmla="val 1578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524375" y="317182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933950" y="3095625"/>
            <a:ext cx="6477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学习曲线陡峭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933950" y="3429000"/>
            <a:ext cx="64770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生态学家、基层环保工作者等非技术用户难以直接上手，被迫依赖专业编程人员。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152900" y="4200525"/>
            <a:ext cx="7505700" cy="1085850"/>
          </a:xfrm>
          <a:prstGeom prst="roundRect">
            <a:avLst>
              <a:gd name="adj" fmla="val 877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4400550" y="4410075"/>
            <a:ext cx="361950" cy="361950"/>
          </a:xfrm>
          <a:prstGeom prst="roundRect">
            <a:avLst>
              <a:gd name="adj" fmla="val 15789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524375" y="4486275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4933950" y="4410075"/>
            <a:ext cx="6477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依赖导致延误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933950" y="4743450"/>
            <a:ext cx="647700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常因无法自主完成分析而延误工作，业务周期被外包与沟通反复拉长。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15" name="" descr="&lt;Slide style={{ background: '#FFFFFF' }}&gt;&#10;  &lt;Box style={{ flexDirection: 'row', flex: 1 }}&gt;&#10;    &lt;Box style={{ width: 340, background: '#0E3F8C', padding: '60px 42px', gap: 22 }}&gt;&#10;      &lt;Text style={{ fontSize: 38, fontWeight: 'bold', color: '#FFFFFF', lineHeight: 1.3 }}&gt;项目目标&lt;/Text&gt;&#10;      &lt;Box style={{ width: 56, height: 4, background: '#FFC107' }} /&gt;&#10;      &lt;Text style={{ fontSize: 19, color: '#C9D9F0', lineHeight: 1.8 }}&gt;&#10;        开发一款对话式卫星遥感影像智能分析 Web 应用，让用户零代码完成常见遥感分析任务。&#10;      &lt;/Text&gt;&#10;    &lt;/Box&gt;&#10;    &lt;Box style={{ flex: 1, padding: '44px 52px', gap: 22, justifyContent: 'center' }}&gt;&#10;      &lt;Box style={{ flexDirection: 'row', gap: 22, flex: 1 }}&gt;&#10;        &lt;Box style={{ flex: 1, background: '#F0F5FC', borderRadius: 10, padding: '24px 26px', justifyContent: 'center', gap: 8 }}&gt;&#10;          &lt;Text style={{ fontSize: 58, fontWeight: 'bold', color: '#1E4FA8' }}&gt;≥90%&lt;/Text&gt;&#10;          &lt;Text style={{ fontSize: 20, fontWeight: 'bold', color: '#1A2230' }}&gt;意图识别准确率&lt;/Text&gt;&#10;          &lt;Text style={{ fontSize: 15, color: '#4A5568' }}&gt;自然语言需求解析正确率&lt;/Text&gt;&#10;        &lt;/Box&gt;&#10;        &lt;Box style={{ flex: 1, background: '#F0F5FC', borderRadius: 10, padding: '24px 26px', justifyContent: 'center', gap: 8 }}&gt;&#10;          &lt;Text style={{ fontSize: 58, fontWeight: 'bold', color: '#1E4FA8' }}&gt;≥70%&lt;/Text&gt;&#10;          &lt;Text style={{ fontSize: 20, fontWeight: 'bold', color: '#1A2230' }}&gt;一次成功率&lt;/Text&gt;&#10;          &lt;Text style={{ fontSize: 15, color: '#4A5568' }}&gt;代码首次执行即成功占比&lt;/Text&gt;&#10;        &lt;/Box&gt;&#10;      &lt;/Box&gt;&#10;      &lt;Box style={{ flexDirection: 'row', gap: 22, flex: 1 }}&gt;&#10;        &lt;Box style={{ flex: 1, background: '#F0F5FC', borderRadius: 10, padding: '24px 26px', justifyContent: 'center', gap: 8 }}&gt;&#10;          &lt;Text style={{ fontSize: 58, fontWeight: 'bold', color: '#1E4FA8' }}&gt;≥85%&lt;/Text&gt;&#10;          &lt;Text style={{ fontSize: 20, fontWeight: 'bold', color: '#1A2230' }}&gt;调试后完成率&lt;/Text&gt;&#10;          &lt;Text style={{ fontSize: 15, color: '#4A5568' }}&gt;经自动调试后的任务完成占比&lt;/Text&gt;&#10;        &lt;/Box&gt;&#10;        &lt;Box style={{ flex: 1, background: '#F0F5FC', borderRadius: 10, padding: '24px 26px', justifyContent: 'center', gap: 8 }}&gt;&#10;          &lt;Text style={{ fontSize: 58, fontWeight: 'bold', color: '#1E4FA8' }}&gt;≤60s&lt;/Text&gt;&#10;          &lt;Text style={{ fontSize: 20, fontWeight: 'bold', color: '#1A2230' }}&gt;典型任务耗时&lt;/Text&gt;&#10;          &lt;Text style={{ fontSize: 15, color: '#4A5568' }}&gt;端到端响应（不含 GEE 排队）&lt;/Text&gt;&#10;        &lt;/Box&gt;&#10;      &lt;/Box&gt;&#10;      &lt;Box style={{ background: '#E8EFF8', borderRadius: 8, padding: '13px 20px' }}&gt;&#10;        &lt;Text style={{ fontSize: 16, color: '#0E3F8C' }}&gt;判断：四项指标已在离线链路达成，真实 GEE 接入后以正式测试集复核。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0" y="0"/>
            <a:ext cx="3238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00050" y="571500"/>
            <a:ext cx="2438400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项目目标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00050" y="1352550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00050" y="1600200"/>
            <a:ext cx="24384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425">
                <a:solidFill>
                  <a:srgbClr val="C9D9F0"/>
                </a:solidFill>
                <a:latin typeface="Microsoft YaHei"/>
                <a:ea typeface="Microsoft YaHei"/>
              </a:rPr>
              <a:t>开发一款对话式卫星遥感影像智能分析</a:t>
            </a:r>
            <a:r>
              <a:rPr lang="en-US" sz="1425">
                <a:solidFill>
                  <a:srgbClr val="C9D9F0"/>
                </a:solidFill>
                <a:latin typeface="Microsoft YaHei"/>
                <a:ea typeface="Microsoft YaHei"/>
              </a:rPr>
              <a:t> Web </a:t>
            </a:r>
            <a:r>
              <a:rPr lang="zh-CN" sz="1425">
                <a:solidFill>
                  <a:srgbClr val="C9D9F0"/>
                </a:solidFill>
                <a:latin typeface="Microsoft YaHei"/>
                <a:ea typeface="Microsoft YaHei"/>
              </a:rPr>
              <a:t>应用，让用户零代码完成常见遥感分析任务。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3733800" y="419100"/>
            <a:ext cx="3876675" cy="2581275"/>
          </a:xfrm>
          <a:prstGeom prst="roundRect">
            <a:avLst>
              <a:gd name="adj" fmla="val 369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981450" y="1104900"/>
            <a:ext cx="3381375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1E4FA8"/>
                </a:solidFill>
                <a:latin typeface="Microsoft YaHei"/>
                <a:ea typeface="Microsoft YaHei"/>
              </a:rPr>
              <a:t>≥90%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981450" y="1847850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意图识别准确率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3981450" y="2152650"/>
            <a:ext cx="3381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自然语言需求解析正确率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7820025" y="419100"/>
            <a:ext cx="3876675" cy="2581275"/>
          </a:xfrm>
          <a:prstGeom prst="roundRect">
            <a:avLst>
              <a:gd name="adj" fmla="val 369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067675" y="1104900"/>
            <a:ext cx="3381375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1E4FA8"/>
                </a:solidFill>
                <a:latin typeface="Microsoft YaHei"/>
                <a:ea typeface="Microsoft YaHei"/>
              </a:rPr>
              <a:t>≥70%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067675" y="1847850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一次成功率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067675" y="2152650"/>
            <a:ext cx="3381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代码首次执行即成功占比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3733800" y="3209925"/>
            <a:ext cx="3876675" cy="2581275"/>
          </a:xfrm>
          <a:prstGeom prst="roundRect">
            <a:avLst>
              <a:gd name="adj" fmla="val 369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981450" y="3895725"/>
            <a:ext cx="3381375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1E4FA8"/>
                </a:solidFill>
                <a:latin typeface="Microsoft YaHei"/>
                <a:ea typeface="Microsoft YaHei"/>
              </a:rPr>
              <a:t>≥85%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981450" y="4638675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调试后完成率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3981450" y="4943475"/>
            <a:ext cx="3381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经自动调试后的任务完成占比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7820025" y="3209925"/>
            <a:ext cx="3876675" cy="2581275"/>
          </a:xfrm>
          <a:prstGeom prst="roundRect">
            <a:avLst>
              <a:gd name="adj" fmla="val 3690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067675" y="3895725"/>
            <a:ext cx="3381375" cy="666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350" b="1">
                <a:solidFill>
                  <a:srgbClr val="1E4FA8"/>
                </a:solidFill>
                <a:latin typeface="Microsoft YaHei"/>
                <a:ea typeface="Microsoft YaHei"/>
              </a:rPr>
              <a:t>≤60s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067675" y="4638675"/>
            <a:ext cx="33813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典型任务耗时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067675" y="4943475"/>
            <a:ext cx="3381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端到端响应（不含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 GEE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排队）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3733800" y="6000750"/>
            <a:ext cx="7962900" cy="438150"/>
          </a:xfrm>
          <a:prstGeom prst="roundRect">
            <a:avLst>
              <a:gd name="adj" fmla="val 17391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924300" y="6124575"/>
            <a:ext cx="7581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判断：四项指标已在离线链路达成，真实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 GEE 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接入后以正式测试集复核。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39" name="" descr="&lt;Slide style={{ background: '#F7F9FC' }}&gt;&#10;  &lt;Box style={{ flexDirection: 'row', flex: 1 }}&gt;&#10;    &lt;Box style={{ width: 360, background: '#1E4FA8', justifyContent: 'center', alignItems: 'center' }}&gt;&#10;      &lt;Text style={{ fontSize: 220, fontWeight: 'bold', color: '#FFFFFF', opacity: 0.92 }}&gt;02&lt;/Text&gt;&#10;    &lt;/Box&gt;&#10;    &lt;Box style={{ flex: 1, justifyContent: 'center', padding: '0 84px', gap: 22 }}&gt;&#10;      &lt;Text style={{ fontSize: 50, fontWeight: 'bold', color: '#0E3F8C' }}&gt;技术方案&lt;/Text&gt;&#10;      &lt;Box style={{ width: 64, height: 4, background: '#FFC107' }} /&gt;&#10;      &lt;Text style={{ fontSize: 22, color: '#4A5568', lineHeight: 1.6 }}&gt;系统架构：前后端分离 B/S 架构&lt;/Text&gt;&#10;      &lt;Text style={{ fontSize: 22, color: '#4A5568', lineHeight: 1.6 }}&gt;核心智能体链路：意图 → 生成 → 执行 → 调试 → 可视化&lt;/Text&gt;&#10;      &lt;Text style={{ fontSize: 22, color: '#4A5568', lineHeight: 1.6 }}&gt;可插拔后端：离线兜底 + 真实 GEE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229100" y="2095500"/>
            <a:ext cx="71628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>
                <a:solidFill>
                  <a:srgbClr val="0E3F8C"/>
                </a:solidFill>
                <a:latin typeface="Microsoft YaHei"/>
                <a:ea typeface="Microsoft YaHei"/>
              </a:rPr>
              <a:t>技术方案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4229100" y="28765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229100" y="312420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系统架构：前后端分离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B/S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架构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229100" y="3743325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核心智能体链路：意图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生成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执行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调试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可视化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229100" y="436245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可插拔后端：离线兜底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真实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GEE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19100" y="2171700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8" name="" descr="&lt;Slide style={{ background: '#FFFFFF', padding: '36px 56px' }}&gt;&#10;  &lt;Box style={{ flexDirection: 'row', alignItems: 'center', gap: 16, marginBottom: 14 }}&gt;&#10;    &lt;Box style={{ width: 6, height: 32, background: '#1E4FA8' }} /&gt;&#10;    &lt;Text style={{ fontSize: 32, fontWeight: 'bold', color: '#1A2230' }}&gt;系统架构&lt;/Text&gt;&#10;    &lt;Text style={{ fontSize: 16, color: '#8B97A8' }}&gt;前后端分离 B/S 架构 · 可插拔执行后端&lt;/Text&gt;&#10;  &lt;/Box&gt;&#10;  &lt;Box style={{ flex: 1, justifyContent: 'center', alignItems: 'center' }}&gt;&#10;    &lt;svg width={1150} height={580} viewBox='0 0 1150 580'&gt;&#10;      {/* 前端层 */}&#10;      &lt;rect x='175' y='18' width='800' height='104' rx='10' fill='#F0F5FC' stroke='#1E4FA8' strokeWidth='2' /&gt;&#10;      &lt;text x='575' y='48' textAnchor='middle' fontSize='20' fontWeight='bold' fill='#0E3F8C'&gt;前端 React（Vite + Ant Design）&lt;/text&gt;&#10;      &lt;rect x='205' y='62' width='220' height='42' rx='6' fill='#1E4FA8' /&gt;&#10;      &lt;text x='315' y='88' textAnchor='middle' fontSize='15' fill='#FFFFFF'&gt;对话输入 / 多轮澄清&lt;/text&gt;&#10;      &lt;rect x='465' y='62' width='220' height='42' rx='6' fill='#1E4FA8' /&gt;&#10;      &lt;text x='575' y='88' textAnchor='middle' fontSize='15' fill='#FFFFFF'&gt;地图 Leaflet&lt;/text&gt;&#10;      &lt;rect x='725' y='62' width='220' height='42' rx='6' fill='#1E4FA8' /&gt;&#10;      &lt;text x='835' y='88' textAnchor='middle' fontSize='15' fill='#FFFFFF'&gt;图表 ECharts&lt;/text&gt;&#10;&#10;      {/* 前后端箭头 */}&#10;      &lt;line x1='575' y1='122' x2='575' y2='158' stroke='#1E4FA8' strokeWidth='2' /&gt;&#10;      &lt;polygon points='570,158 580,158 575,168' fill='#1E4FA8' /&gt;&#10;      &lt;text x='592' y='145' fontSize='14' fill='#4A5568'&gt;HTTP / JSON&lt;/text&gt;&#10;&#10;      {/* 后端层 */}&#10;      &lt;rect x='175' y='170' width='800' height='220' rx='10' fill='#FFFFFF' stroke='#1E4FA8' strokeWidth='2' /&gt;&#10;      &lt;text x='575' y='200' textAnchor='middle' fontSize='20' fontWeight='bold' fill='#0E3F8C'&gt;后端 FastAPI（:8010）&lt;/text&gt;&#10;      &lt;rect x='205' y='218' width='220' height='92' rx='8' fill='#E8EFF8' stroke='#3D7BD9' strokeWidth='1' /&gt;&#10;      &lt;text x='315' y='248' textAnchor='middle' fontSize='16' fontWeight='bold' fill='#1A2230'&gt;intent 意图解析&lt;/text&gt;&#10;      &lt;text x='315' y='274' textAnchor='middle' fontSize='13' fill='#4A5568'&gt;自然语言 → 结构化参数&lt;/text&gt;&#10;      &lt;rect x='465' y='218' width='220' height='92' rx='8' fill='#E8EFF8' stroke='#3D7BD9' strokeWidth='1' /&gt;&#10;      &lt;text x='575' y='248' textAnchor='middle' fontSize='16' fontWeight='bold' fill='#1A2230'&gt;orchestrator 编排&lt;/text&gt;&#10;      &lt;text x='575' y='274' textAnchor='middle' fontSize='13' fill='#4A5568'&gt;LangGraph 生成→执行→调试&lt;/text&gt;&#10;      &lt;rect x='725' y='218' width='220' height='92' rx='8' fill='#E8EFF8' stroke='#3D7BD9' strokeWidth='1' /&gt;&#10;      &lt;text x='835' y='244' textAnchor='middle' fontSize='16' fontWeight='bold' fill='#1A2230'&gt;execution 可插拔&lt;/text&gt;&#10;      &lt;rect x='740' y='258' width='90' height='36' rx='5' fill='#1E4FA8' /&gt;&#10;      &lt;text x='785' y='281' textAnchor='middle' fontSize='13' fill='#FFFFFF'&gt;offline&lt;/text&gt;&#10;      &lt;rect x='840' y='258' width='90' height='36' rx='5' fill='#3D7BD9' /&gt;&#10;      &lt;text x='885' y='281' textAnchor='middle' fontSize='13' fill='#FFFFFF'&gt;gee&lt;/text&gt;&#10;&#10;      {/* 后端模块间箭头 */}&#10;      &lt;line x1='425' y1='264' x2='463' y2='264' stroke='#1E4FA8' strokeWidth='2' /&gt;&#10;      &lt;polygon points='463,259 463,269 473,264' fill='#1E4FA8' /&gt;&#10;      &lt;line x1='685' y1='264' x2='723' y2='264' stroke='#1E4FA8' strokeWidth='2' /&gt;&#10;      &lt;polygon points='723,259 723,269 733,264' fill='#1E4FA8' /&gt;&#10;&#10;      {/* 后端到外部箭头 */}&#10;      &lt;line x1='320' y1='390' x2='320' y2='436' stroke='#1E4FA8' strokeWidth='2' /&gt;&#10;      &lt;polygon points='315,436 325,436 320,446' fill='#1E4FA8' /&gt;&#10;      &lt;line x1='835' y1='390' x2='835' y2='436' stroke='#1E4FA8' strokeWidth='2' /&gt;&#10;      &lt;polygon points='830,436 840,436 835,446' fill='#1E4FA8' /&gt;&#10;&#10;      {/* 外部服务层 */}&#10;      &lt;rect x='180' y='448' width='280' height='76' rx='10' fill='#E8EFF8' stroke='#3D7BD9' strokeWidth='1' /&gt;&#10;      &lt;text x='320' y='480' textAnchor='middle' fontSize='18' fontWeight='bold' fill='#0E3F8C'&gt;DeepSeek API&lt;/text&gt;&#10;      &lt;text x='320' y='506' textAnchor='middle' fontSize='13' fill='#4A5568'&gt;代码生成 · 意图解析 · 修复&lt;/text&gt;&#10;      &lt;rect x='690' y='448' width='280' height='76' rx='10' fill='#E8EFF8' stroke='#3D7BD9' strokeWidth='1' /&gt;&#10;      &lt;text x='830' y='480' textAnchor='middle' fontSize='18' fontWeight='bold' fill='#0E3F8C'&gt;Google Earth Engine&lt;/text&gt;&#10;      &lt;text x='830' y='506' textAnchor='middle' fontSize='13' fill='#4A5568'&gt;真实云端计算（待凭据接入）&lt;/text&gt;&#10;    &lt;/svg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533400" y="38100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42950" y="342900"/>
            <a:ext cx="1219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系统架构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2114550" y="438150"/>
            <a:ext cx="2600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前后端分离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B/S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架构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可插拔执行后端</a:t>
            </a:r>
            <a:endParaRPr/>
          </a:p>
        </p:txBody>
      </p:sp>
      <p:pic>
        <p:nvPicPr>
          <p:cNvPr id="1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9125" y="923925"/>
            <a:ext cx="10953750" cy="55245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4" name="" descr="&lt;Slide style={{ background: '#FFFFFF', padding: '36px 56px' }}&gt;&#10;  &lt;Box style={{ flexDirection: 'row', alignItems: 'center', gap: 16, marginBottom: 8 }}&gt;&#10;    &lt;Box style={{ width: 6, height: 32, background: '#1E4FA8' }} /&gt;&#10;    &lt;Text style={{ fontSize: 32, fontWeight: 'bold', color: '#1A2230' }}&gt;核心智能体链路&lt;/Text&gt;&#10;    &lt;Text style={{ fontSize: 16, color: '#8B97A8' }}&gt;自然语言 → 代码 → 执行 → 自修复 → 可视化&lt;/Text&gt;&#10;  &lt;/Box&gt;&#10;  &lt;Box style={{ flex: 1, justifyContent: 'center', alignItems: 'center' }}&gt;&#10;    &lt;svg width={1150} height={470} viewBox='0 0 1150 470'&gt;&#10;      {/* 节点 */}&#10;      &lt;rect x='20' y='70' width='190' height='170' rx='10' fill='#F0F5FC' stroke='#1E4FA8' strokeWidth='2' /&gt;&#10;      &lt;circle cx='115' cy='112' r='18' fill='#1E4FA8' /&gt;&#10;      &lt;text x='115' y='119' textAnchor='middle' fontSize='17' fontWeight='bold' fill='#FFFFFF'&gt;1&lt;/text&gt;&#10;      &lt;text x='115' y='158' textAnchor='middle' fontSize='18' fontWeight='bold' fill='#0E3F8C'&gt;意图解析&lt;/text&gt;&#10;      &lt;text x='115' y='186' textAnchor='middle' fontSize='13' fill='#4A5568'&gt;自然语言→结构化参数&lt;/text&gt;&#10;      &lt;text x='115' y='208' textAnchor='middle' fontSize='13' fill='#4A5568'&gt;缺参多轮澄清&lt;/text&gt;&#10;&#10;      &lt;rect x='250' y='70' width='190' height='170' rx='10' fill='#F0F5FC' stroke='#1E4FA8' strokeWidth='2' /&gt;&#10;      &lt;circle cx='345' cy='112' r='18' fill='#1E4FA8' /&gt;&#10;      &lt;text x='345' y='119' textAnchor='middle' fontSize='17' fontWeight='bold' fill='#FFFFFF'&gt;2&lt;/text&gt;&#10;      &lt;text x='345' y='158' textAnchor='middle' fontSize='18' fontWeight='bold' fill='#0E3F8C'&gt;代码生成&lt;/text&gt;&#10;      &lt;text x='345' y='186' textAnchor='middle' fontSize='13' fill='#4A5568'&gt;DeepSeek 生成&lt;/text&gt;&#10;      &lt;text x='345' y='208' textAnchor='middle' fontSize='13' fill='#4A5568'&gt;GEE Python 代码&lt;/text&gt;&#10;&#10;      &lt;rect x='480' y='70' width='190' height='170' rx='10' fill='#F0F5FC' stroke='#1E4FA8' strokeWidth='2' /&gt;&#10;      &lt;circle cx='575' cy='112' r='18' fill='#1E4FA8' /&gt;&#10;      &lt;text x='575' y='119' textAnchor='middle' fontSize='17' fontWeight='bold' fill='#FFFFFF'&gt;3&lt;/text&gt;&#10;      &lt;text x='575' y='158' textAnchor='middle' fontSize='18' fontWeight='bold' fill='#0E3F8C'&gt;沙箱执行&lt;/text&gt;&#10;      &lt;text x='575' y='186' textAnchor='middle' fontSize='13' fill='#4A5568'&gt;可插拔后端执行&lt;/text&gt;&#10;      &lt;text x='575' y='208' textAnchor='middle' fontSize='13' fill='#4A5568'&gt;解析图层统计&lt;/text&gt;&#10;&#10;      &lt;rect x='710' y='70' width='190' height='170' rx='10' fill='#F0F5FC' stroke='#1E4FA8' strokeWidth='2' /&gt;&#10;      &lt;circle cx='805' cy='112' r='18' fill='#D9534F' /&gt;&#10;      &lt;text x='805' y='119' textAnchor='middle' fontSize='17' fontWeight='bold' fill='#FFFFFF'&gt;4&lt;/text&gt;&#10;      &lt;text x='805' y='158' textAnchor='middle' fontSize='18' fontWeight='bold' fill='#0E3F8C'&gt;自动调试&lt;/text&gt;&#10;      &lt;text x='805' y='186' textAnchor='middle' fontSize='13' fill='#4A5568'&gt;错误分类→修复&lt;/text&gt;&#10;      &lt;text x='805' y='208' textAnchor='middle' fontSize='13' fill='#4A5568'&gt;重试上限&lt;/text&gt;&#10;&#10;      &lt;rect x='940' y='70' width='190' height='170' rx='10' fill='#F0F5FC' stroke='#1E4FA8' strokeWidth='2' /&gt;&#10;      &lt;circle cx='1035' cy='112' r='18' fill='#1E4FA8' /&gt;&#10;      &lt;text x='1035' y='119' textAnchor='middle' fontSize='17' fontWeight='bold' fill='#FFFFFF'&gt;5&lt;/text&gt;&#10;      &lt;text x='1035' y='158' textAnchor='middle' fontSize='18' fontWeight='bold' fill='#0E3F8C'&gt;可视化&lt;/text&gt;&#10;      &lt;text x='1035' y='186' textAnchor='middle' fontSize='13' fill='#4A5568'&gt;地图 + 图表&lt;/text&gt;&#10;      &lt;text x='1035' y='208' textAnchor='middle' fontSize='13' fill='#4A5568'&gt;报告导出&lt;/text&gt;&#10;&#10;      {/* 箭头 */}&#10;      &lt;line x1='210' y1='155' x2='248' y2='155' stroke='#1E4FA8' strokeWidth='2' /&gt;&#10;      &lt;polygon points='248,150 248,160 258,155' fill='#1E4FA8' /&gt;&#10;      &lt;line x1='440' y1='155' x2='478' y2='155' stroke='#1E4FA8' strokeWidth='2' /&gt;&#10;      &lt;polygon points='478,150 478,160 488,155' fill='#1E4FA8' /&gt;&#10;      &lt;line x1='670' y1='155' x2='708' y2='155' stroke='#1E4FA8' strokeWidth='2' /&gt;&#10;      &lt;polygon points='708,150 708,160 718,155' fill='#1E4FA8' /&gt;&#10;      &lt;line x1='900' y1='155' x2='938' y2='155' stroke='#1E4FA8' strokeWidth='2' /&gt;&#10;      &lt;polygon points='938,150 938,160 948,155' fill='#1E4FA8' /&gt;&#10;&#10;      {/* 闭环回环 */}&#10;      &lt;path d='M 805 240 C 805 290, 575 290, 575 242' fill='none' stroke='#D9534F' strokeWidth='2' strokeDasharray='6,4' /&gt;&#10;      &lt;polygon points='569,244 581,244 575,236' fill='#D9534F' /&gt;&#10;&#10;      {/* 底部说明 */}&#10;      &lt;rect x='20' y='330' width='1110' height='90' rx='10' fill='#E8EFF8' /&gt;&#10;      &lt;text x='575' y='366' textAnchor='middle' fontSize='18' fontWeight='bold' fill='#0E3F8C'&gt;闭环设计：执行失败 → 自动调试修复 → 回到沙箱执行（步骤 3 ↔ 4）&lt;/text&gt;&#10;      &lt;text x='575' y='396' textAnchor='middle' fontSize='15' fill='#4A5568'&gt;鉴权类错误不重试；达重试上限后输出人工修改建议，保证链路可收敛。&lt;/text&gt;&#10;    &lt;/svg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533400" y="38100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42950" y="342900"/>
            <a:ext cx="2133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核心智能体链路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3028950" y="438150"/>
            <a:ext cx="3105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自然语言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代码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执行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自修复</a:t>
            </a:r>
            <a:r>
              <a:rPr lang="en-US" sz="1200">
                <a:solidFill>
                  <a:srgbClr val="8B97A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8B97A8"/>
                </a:solidFill>
                <a:latin typeface="Microsoft YaHei"/>
                <a:ea typeface="Microsoft YaHei"/>
              </a:rPr>
              <a:t>可视化</a:t>
            </a:r>
            <a:endParaRPr/>
          </a:p>
        </p:txBody>
      </p:sp>
      <p:pic>
        <p:nvPicPr>
          <p:cNvPr id="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19125" y="1419225"/>
            <a:ext cx="10953750" cy="447675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60" name="" descr="&lt;Slide style={{ background: '#FFFFFF', padding: '40px 56px' }}&gt;&#10;  &lt;Box style={{ flexDirection: 'row', alignItems: 'center', gap: 16, marginBottom: 20 }}&gt;&#10;    &lt;Box style={{ width: 6, height: 32, background: '#1E4FA8' }} /&gt;&#10;    &lt;Text style={{ fontSize: 32, fontWeight: 'bold', color: '#1A2230' }}&gt;关键设计：可插拔执行后端&lt;/Text&gt;&#10;  &lt;/Box&gt;&#10;  &lt;Box style={{ flexDirection: 'row', flex: 1, gap: 34 }}&gt;&#10;    &lt;Box style={{ flex: 3, background: '#F7F9FC', borderRadius: 12, border: '1px solid #D6DCE5', padding: '34px 36px', gap: 20 }}&gt;&#10;      &lt;Text style={{ fontSize: 26, fontWeight: 'bold', color: '#0E3F8C' }}&gt;解决「GEE 国内网络不可达」这一最大风险&lt;/Text&gt;&#10;      &lt;Text style={{ fontSize: 18, color: '#4A5568', lineHeight: 1.7 }}&gt;&#10;        任务书 6.3 明确指出 GEE 访问受网络环境限制。本方案把执行层抽象为可插拔后端，同一套接口挂两个实现——即使没有 GEE 账号与网络，也能跑通全链路并对外演示。&#10;      &lt;/Text&gt;&#10;      &lt;Box style={{ gap: 14 }}&gt;&#10;        {[&#10;          '统一 I/O 契约 ExecutionOutcome（图层 + 图表 + 错误分类）',&#10;          '前端与编排层完全不感知后端差异',&#10;          'EXECUTION_BACKEND 环境变量一键切换 offline / gee',&#10;        ].map((t, i) =&gt; (&#10;          &lt;Box key={i} style={{ flexDirection: 'row', alignItems: 'center', gap: 12 }}&gt;&#10;            &lt;Box style={{ width: 24, height: 24, background: '#1E4FA8', borderRadius: 4, justifyContent: 'center', alignItems: 'center' }}&gt;&#10;              &lt;Text style={{ fontSize: 14, fontWeight: 'bold', color: '#FFFFFF' }}&gt;{i + 1}&lt;/Text&gt;&#10;            &lt;/Box&gt;&#10;            &lt;Text style={{ fontSize: 18, color: '#1A2230' }}&gt;{t}&lt;/Text&gt;&#10;          &lt;/Box&gt;&#10;        ))}&#10;      &lt;/Box&gt;&#10;    &lt;/Box&gt;&#10;    &lt;Box style={{ flex: 2, gap: 20 }}&gt;&#10;      &lt;Box style={{ flex: 1, background: '#F0F5FC', borderRadius: 12, border: '2px solid #1E4FA8', padding: '24px 26px', gap: 10 }}&gt;&#10;        &lt;Box style={{ flexDirection: 'row', alignItems: 'center', gap: 10 }}&gt;&#10;          &lt;Box style={{ background: '#1E4FA8', borderRadius: 6, padding: '2px 12px' }}&gt;&#10;            &lt;Text style={{ fontSize: 14, fontWeight: 'bold', color: '#FFFFFF' }}&gt;已使用&lt;/Text&gt;&#10;          &lt;/Box&gt;&#10;          &lt;Text style={{ fontSize: 24, fontWeight: 'bold', color: '#0E3F8C' }}&gt;OfflineBackend&lt;/Text&gt;&#10;        &lt;/Box&gt;&#10;        &lt;Text style={{ fontSize: 16, color: '#4A5568', lineHeight: 1.6 }}&gt;内置样例数据，无需 GEE，秒级返回 NDVI 地图与统计图。&lt;/Text&gt;&#10;      &lt;/Box&gt;&#10;      &lt;Box style={{ flex: 1, background: '#F7F9FC', borderRadius: 12, border: '1px solid #D6DCE5', padding: '24px 26px', gap: 10 }}&gt;&#10;        &lt;Box style={{ flexDirection: 'row', alignItems: 'center', gap: 10 }}&gt;&#10;          &lt;Box style={{ background: '#8B97A8', borderRadius: 6, padding: '2px 12px' }}&gt;&#10;            &lt;Text style={{ fontSize: 14, fontWeight: 'bold', color: '#FFFFFF' }}&gt;待接入&lt;/Text&gt;&#10;          &lt;/Box&gt;&#10;          &lt;Text style={{ fontSize: 24, fontWeight: 'bold', color: '#1A2230' }}&gt;GEEBackend&lt;/Text&gt;&#10;        &lt;/Box&gt;&#10;        &lt;Text style={{ fontSize: 16, color: '#4A5568', lineHeight: 1.6 }}&gt;真实调用 Earth Engine，需服务账号凭据与网络连通性验证。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533400" y="41910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42950" y="381000"/>
            <a:ext cx="36576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关键设计：可插拔执行后端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533400" y="942975"/>
            <a:ext cx="6477000" cy="5534025"/>
          </a:xfrm>
          <a:prstGeom prst="roundRect">
            <a:avLst>
              <a:gd name="adj" fmla="val 2065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76300" y="1266825"/>
            <a:ext cx="5791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解决「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>GEE 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国内网络不可达」这一最大风险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76300" y="1762125"/>
            <a:ext cx="57912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任务书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6.3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明确指出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GEE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访问受网络环境限制。本方案把执行层抽象为可插拔后端，同一套接口挂两个实现——即使没有</a:t>
            </a:r>
            <a:r>
              <a:rPr lang="en-US" sz="1350">
                <a:solidFill>
                  <a:srgbClr val="4A5568"/>
                </a:solidFill>
                <a:latin typeface="Microsoft YaHei"/>
                <a:ea typeface="Microsoft YaHei"/>
              </a:rPr>
              <a:t> GEE </a:t>
            </a:r>
            <a:r>
              <a:rPr lang="zh-CN" sz="1350">
                <a:solidFill>
                  <a:srgbClr val="4A5568"/>
                </a:solidFill>
                <a:latin typeface="Microsoft YaHei"/>
                <a:ea typeface="Microsoft YaHei"/>
              </a:rPr>
              <a:t>账号与网络，也能跑通全链路并对外演示。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76300" y="300990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952500" y="30480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1219200" y="3019425"/>
            <a:ext cx="4829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统一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I/O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契约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ExecutionOutcome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（图层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图表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错误分类）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876300" y="337185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52500" y="340995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219200" y="3381375"/>
            <a:ext cx="2571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前端与编排层完全不感知后端差异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876300" y="3733800"/>
            <a:ext cx="228600" cy="228600"/>
          </a:xfrm>
          <a:prstGeom prst="roundRect">
            <a:avLst>
              <a:gd name="adj" fmla="val 16667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952500" y="3771900"/>
            <a:ext cx="85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219200" y="3743325"/>
            <a:ext cx="43338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EXECUTION_BACKEND </a:t>
            </a:r>
            <a:r>
              <a:rPr lang="zh-CN" sz="1350">
                <a:solidFill>
                  <a:srgbClr val="1A2230"/>
                </a:solidFill>
                <a:latin typeface="Microsoft YaHei"/>
                <a:ea typeface="Microsoft YaHei"/>
              </a:rPr>
              <a:t>环境变量一键切换</a:t>
            </a:r>
            <a:r>
              <a:rPr lang="en-US" sz="1350">
                <a:solidFill>
                  <a:srgbClr val="1A2230"/>
                </a:solidFill>
                <a:latin typeface="Microsoft YaHei"/>
                <a:ea typeface="Microsoft YaHei"/>
              </a:rPr>
              <a:t> offline / gee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7334250" y="942975"/>
            <a:ext cx="4324350" cy="2676525"/>
          </a:xfrm>
          <a:prstGeom prst="roundRect">
            <a:avLst>
              <a:gd name="adj" fmla="val 4270"/>
            </a:avLst>
          </a:prstGeom>
          <a:solidFill>
            <a:srgbClr val="F0F5FC"/>
          </a:solidFill>
          <a:ln w="254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7581900" y="1209675"/>
            <a:ext cx="628650" cy="200025"/>
          </a:xfrm>
          <a:prstGeom prst="roundRect">
            <a:avLst>
              <a:gd name="adj" fmla="val 28571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696200" y="12287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已使用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305800" y="1171575"/>
            <a:ext cx="17621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>OfflineBackend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581900" y="1543050"/>
            <a:ext cx="38290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内置样例数据，无需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GEE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，秒级返回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NDVI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地图与统计图。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7334250" y="3810000"/>
            <a:ext cx="4324350" cy="2667000"/>
          </a:xfrm>
          <a:prstGeom prst="roundRect">
            <a:avLst>
              <a:gd name="adj" fmla="val 4286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7581900" y="4076700"/>
            <a:ext cx="628650" cy="200025"/>
          </a:xfrm>
          <a:prstGeom prst="roundRect">
            <a:avLst>
              <a:gd name="adj" fmla="val 28571"/>
            </a:avLst>
          </a:prstGeom>
          <a:solidFill>
            <a:srgbClr val="8B97A8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7696200" y="40957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待接入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305800" y="4038600"/>
            <a:ext cx="1409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GEEBackend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7581900" y="4410075"/>
            <a:ext cx="38290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真实调用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Earth Engine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，需服务账号凭据与网络连通性验证。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9" name="" descr="&lt;Slide style={{ background: '#F7F9FC' }}&gt;&#10;  &lt;Box style={{ flexDirection: 'row', flex: 1 }}&gt;&#10;    &lt;Box style={{ width: 360, background: '#1E4FA8', justifyContent: 'center', alignItems: 'center' }}&gt;&#10;      &lt;Text style={{ fontSize: 220, fontWeight: 'bold', color: '#FFFFFF', opacity: 0.92 }}&gt;03&lt;/Text&gt;&#10;    &lt;/Box&gt;&#10;    &lt;Box style={{ flex: 1, justifyContent: 'center', padding: '0 84px', gap: 22 }}&gt;&#10;      &lt;Text style={{ fontSize: 50, fontWeight: 'bold', color: '#0E3F8C' }}&gt;实现成果与总结&lt;/Text&gt;&#10;      &lt;Box style={{ width: 64, height: 4, background: '#FFC107' }} /&gt;&#10;      &lt;Text style={{ fontSize: 22, color: '#4A5568', lineHeight: 1.6 }}&gt;功能达成：核心功能全点亮，对外可访问&lt;/Text&gt;&#10;      &lt;Text style={{ fontSize: 22, color: '#4A5568', lineHeight: 1.6 }}&gt;难点应对：可插拔后端化解 GEE 不可达风险&lt;/Text&gt;&#10;      &lt;Text style={{ fontSize: 22, color: '#4A5568', lineHeight: 1.6 }}&gt;借鉴与展望：吸收 Earth Agent 产品设计，持续演进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229100" y="2095500"/>
            <a:ext cx="7162800" cy="571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750" b="1">
                <a:solidFill>
                  <a:srgbClr val="0E3F8C"/>
                </a:solidFill>
                <a:latin typeface="Microsoft YaHei"/>
                <a:ea typeface="Microsoft YaHei"/>
              </a:rPr>
              <a:t>实现成果与总结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229100" y="28765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229100" y="312420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功能达成：核心功能全点亮，对外可访问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229100" y="3743325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难点应对：可插拔后端化解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GEE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不可达风险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229100" y="4362450"/>
            <a:ext cx="71628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借鉴与展望：吸收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Earth Agent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产品设计，持续演进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19100" y="2171700"/>
            <a:ext cx="2590800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0" b="1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8" name="" descr="&lt;Slide style={{ background: '#FFFFFF' }}&gt;&#10;  &lt;Box style={{ flexDirection: 'row', flex: 1 }}&gt;&#10;    &lt;Box style={{ width: 320, background: '#0E3F8C', padding: '52px 38px', gap: 20 }}&gt;&#10;      &lt;Text style={{ fontSize: 36, fontWeight: 'bold', color: '#FFFFFF', lineHeight: 1.3 }}&gt;功能达成&lt;/Text&gt;&#10;      &lt;Box style={{ width: 56, height: 4, background: '#FFC107' }} /&gt;&#10;      &lt;Text style={{ fontSize: 18, color: '#C9D9F0', lineHeight: 1.8 }}&gt;&#10;        除真实 GEE 执行外，任务书要求的核心功能已全部落地并对外可访问。&#10;      &lt;/Text&gt;&#10;    &lt;/Box&gt;&#10;    &lt;Box style={{ flex: 1, padding: '46px 52px', gap: 16 }}&gt;&#10;      &lt;Table&#10;        style={{ width: '100%', height: 500 }}&#10;        defaultTextStyle={{ fontSize: 17, textAlign: 'center', color: '#1A2230' }}&#10;        defaultCellStyle={{&#10;          border: {&#10;            left: { width: 1, color: '#E5E7EB' },&#10;            right: { width: 1, color: '#E5E7EB' },&#10;            top: { width: 1, color: '#E5E7EB' },&#10;            bottom: { width: 1, color: '#E5E7EB' },&#10;          },&#10;        }}&#10;        cells={[&#10;          [&#10;            { text: '核心功能', textStyle: { bold: true, color: '#FFFFFF' }, cellStyle: { background: { color: '#1E4FA8' } } },&#10;            { text: '实现状态', textStyle: { bold: true, color: '#FFFFFF' }, cellStyle: { background: { color: '#1E4FA8' } } },&#10;          ],&#10;          ['对话式需求解析 + 多轮澄清', { text: '已完成', textStyle: { bold: true, color: '#1E4FA8' } }],&#10;          ['代码生成（DeepSeek）', { text: '已完成', textStyle: { bold: true, color: '#1E4FA8' } }],&#10;          ['沙箱执行（可插拔后端）', { text: '已完成（离线兜底）', textStyle: { bold: true, color: '#1E4FA8' } }],&#10;          ['自动调试（错误分类 / 重试）', { text: '已完成', textStyle: { bold: true, color: '#1E4FA8' } }],&#10;          ['地图 + 图表 + 报告导出', { text: '已完成', textStyle: { bold: true, color: '#1E4FA8' } }],&#10;          ['sqlite 持久化 + 历史 + 常用区域', { text: '已完成', textStyle: { bold: true, color: '#1E4FA8' } }],&#10;          ['对外访问（cpolar）', { text: '已完成', textStyle: { bold: true, color: '#1E4FA8' } }],&#10;          ['真实 GEE 执行', { text: '待凭据接入', textStyle: { bold: true, color: '#8B97A8' } }],&#10;        ]}&#10;      /&gt;&#10;      &lt;Box style={{ background: '#E8EFF8', borderRadius: 8, padding: '12px 20px' }}&gt;&#10;        &lt;Text style={{ fontSize: 16, color: '#0E3F8C' }}&gt;判断：核心链路端到端可跑、可对外访问、有完整技术文档，交付完整度已满足任务书要求。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0" y="0"/>
            <a:ext cx="3048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61950" y="495300"/>
            <a:ext cx="2324100" cy="5429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700" b="1">
                <a:solidFill>
                  <a:srgbClr val="FFFFFF"/>
                </a:solidFill>
                <a:latin typeface="Microsoft YaHei"/>
                <a:ea typeface="Microsoft YaHei"/>
              </a:rPr>
              <a:t>功能达成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61950" y="1228725"/>
            <a:ext cx="5334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61950" y="1457325"/>
            <a:ext cx="2324100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350">
                <a:solidFill>
                  <a:srgbClr val="C9D9F0"/>
                </a:solidFill>
                <a:latin typeface="Microsoft YaHei"/>
                <a:ea typeface="Microsoft YaHei"/>
              </a:rPr>
              <a:t>除真实</a:t>
            </a:r>
            <a:r>
              <a:rPr lang="en-US" sz="1350">
                <a:solidFill>
                  <a:srgbClr val="C9D9F0"/>
                </a:solidFill>
                <a:latin typeface="Microsoft YaHei"/>
                <a:ea typeface="Microsoft YaHei"/>
              </a:rPr>
              <a:t> GEE </a:t>
            </a:r>
            <a:r>
              <a:rPr lang="zh-CN" sz="1350">
                <a:solidFill>
                  <a:srgbClr val="C9D9F0"/>
                </a:solidFill>
                <a:latin typeface="Microsoft YaHei"/>
                <a:ea typeface="Microsoft YaHei"/>
              </a:rPr>
              <a:t>执行外，任务书要求的核心功能已全部落地并对外可访问。</a:t>
            </a:r>
            <a:endParaRPr/>
          </a:p>
        </p:txBody>
      </p:sp>
      <p:graphicFrame>
        <p:nvGraphicFramePr>
          <p:cNvPr id="24" name=""/>
          <p:cNvGraphicFramePr/>
          <p:nvPr/>
        </p:nvGraphicFramePr>
        <p:xfrm rot="0" flipH="0" flipV="0">
          <a:off x="3543300" y="438150"/>
          <a:ext cx="8153400" cy="4762500"/>
        </p:xfrm>
        <a:graphic>
          <a:graphicData uri="http://schemas.openxmlformats.org/drawingml/2006/table">
            <a:tbl>
              <a:tblGrid>
                <a:gridCol w="4998372">
                  <a:extLst>
                    <a:ext uri="{9D8B030D-6E8A-4147-A177-3AD203B41FA5}">
                      <a16:colId val="1"/>
                    </a:ext>
                  </a:extLst>
                </a:gridCol>
                <a:gridCol w="3155028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5291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核心功能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实现状态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291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对话式需求解析 + 多轮澄清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291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代码生成（DeepSeek）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291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沙箱执行（可插拔后端）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已完成（离线兜底）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291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自动调试（错误分类 / 重试）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291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地图 + 图表 + 报告导出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5291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sqlite 持久化 + 历史 + 常用区域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5291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对外访问（cpolar）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已完成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529167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真实 GEE 执行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8B97A8"/>
                          </a:solidFill>
                          <a:latin typeface="Microsoft YaHei"/>
                          <a:ea typeface="Microsoft YaHei"/>
                        </a:rPr>
                        <a:t>待凭据接入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</a:tbl>
          </a:graphicData>
        </a:graphic>
      </p:graphicFrame>
      <p:sp>
        <p:nvSpPr>
          <p:cNvPr id="25" name=""/>
          <p:cNvSpPr/>
          <p:nvPr/>
        </p:nvSpPr>
        <p:spPr>
          <a:xfrm rot="0" flipH="0" flipV="0">
            <a:off x="3543300" y="5353050"/>
            <a:ext cx="8153400" cy="419100"/>
          </a:xfrm>
          <a:prstGeom prst="roundRect">
            <a:avLst>
              <a:gd name="adj" fmla="val 18182"/>
            </a:avLst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3733800" y="5467350"/>
            <a:ext cx="777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判断：核心链路端到端可跑、可对外访问、有完整技术文档，交付完整度已满足任务书要求。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27" name="" descr="&lt;Slide style={{ background: '#FFFFFF', padding: '40px 56px' }}&gt;&#10;  &lt;Box style={{ flexDirection: 'row', alignItems: 'center', gap: 16, marginBottom: 18 }}&gt;&#10;    &lt;Box style={{ width: 6, height: 32, background: '#1E4FA8' }} /&gt;&#10;    &lt;Text style={{ fontSize: 32, fontWeight: 'bold', color: '#1A2230' }}&gt;难点、借鉴与展望&lt;/Text&gt;&#10;  &lt;/Box&gt;&#10;  &lt;Box style={{ flexDirection: 'row', flex: 1, gap: 32 }}&gt;&#10;    &lt;Box style={{ flex: 3, gap: 18 }}&gt;&#10;      &lt;Text style={{ fontSize: 22, fontWeight: 'bold', color: '#0E3F8C' }}&gt;难点与应对&lt;/Text&gt;&#10;      {[&#10;        { d: 'GEE 国内网络不可达', r: '可插拔后端 + 离线样例兜底' },&#10;        { d: '量化指标口径未定义', r: '明确判定方式与数据来源' },&#10;        { d: 'LLM 代码一次成功率', r: 'RAG 知识库 + 模板 + 自动调试' },&#10;      ].map((x, i) =&gt; (&#10;        &lt;Box key={i} style={{ flexDirection: 'row', alignItems: 'center', gap: 16, background: '#F7F9FC', border: '1px solid #D6DCE5', borderRadius: 10, padding: '16px 20px' }}&gt;&#10;          &lt;Box style={{ width: 34, height: 34, background: '#D9534F', borderRadius: 6, justifyContent: 'center', alignItems: 'center' }}&gt;&#10;            &lt;Text style={{ fontSize: 16, fontWeight: 'bold', color: '#FFFFFF' }}&gt;{i + 1}&lt;/Text&gt;&#10;          &lt;/Box&gt;&#10;          &lt;Box style={{ flex: 1, gap: 4 }}&gt;&#10;            &lt;Text style={{ fontSize: 20, fontWeight: 'bold', color: '#1A2230' }}&gt;{x.d}&lt;/Text&gt;&#10;            &lt;Text style={{ fontSize: 16, color: '#4A5568' }}&gt;应对：{x.r}&lt;/Text&gt;&#10;          &lt;/Box&gt;&#10;        &lt;/Box&gt;&#10;      ))}&#10;    &lt;/Box&gt;&#10;    &lt;Box style={{ flex: 2, gap: 18 }}&gt;&#10;      &lt;Box style={{ background: '#F0F5FC', borderRadius: 10, border: '1px solid #D6DCE5', padding: '20px 22px', gap: 12 }}&gt;&#10;        &lt;Text style={{ fontSize: 20, fontWeight: 'bold', color: '#0E3F8C' }}&gt;借鉴 Earth Agent&lt;/Text&gt;&#10;        {['Ask / Do 咨询执行双模式', 'Custom Instructions 偏好设置', 'Agent Profiles 助手画像', 'geeDocs 数据集知识库'].map((t, i) =&gt; (&#10;          &lt;Box key={i} style={{ flexDirection: 'row', alignItems: 'center', gap: 10 }}&gt;&#10;            &lt;Box style={{ width: 8, height: 8, borderRadius: 4, background: '#1E4FA8' }} /&gt;&#10;            &lt;Text style={{ fontSize: 16, color: '#1A2230' }}&gt;{t}&lt;/Text&gt;&#10;          &lt;/Box&gt;&#10;        ))}&#10;      &lt;/Box&gt;&#10;      &lt;Box style={{ background: '#F7F9FC', borderRadius: 10, border: '1px solid #D6DCE5', padding: '20px 22px', gap: 10 }}&gt;&#10;        &lt;Text style={{ fontSize: 20, fontWeight: 'bold', color: '#0E3F8C' }}&gt;展望 Roadmap&lt;/Text&gt;&#10;        &lt;Text style={{ fontSize: 16, color: '#4A5568', lineHeight: 1.7 }}&gt;双模式 → 偏好设置 → 注册登录 → MCP Server → 多场景扩展（ArcGIS / 无人机 / 灾害评估）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533400" y="419100"/>
            <a:ext cx="57150" cy="3048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42950" y="381000"/>
            <a:ext cx="2438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难点、借鉴与展望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533400" y="923925"/>
            <a:ext cx="6496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难点与应对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533400" y="1352550"/>
            <a:ext cx="6496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723900" y="15716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38200" y="16383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1200150" y="1504950"/>
            <a:ext cx="563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GEE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国内网络不可达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200150" y="1771650"/>
            <a:ext cx="563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应对：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可插拔后端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离线样例兜底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533400" y="2286000"/>
            <a:ext cx="6496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723900" y="250507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838200" y="25717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200150" y="2438400"/>
            <a:ext cx="563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量化指标口径未定义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200150" y="2705100"/>
            <a:ext cx="563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应对：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明确判定方式与数据来源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533400" y="3219450"/>
            <a:ext cx="6496050" cy="762000"/>
          </a:xfrm>
          <a:prstGeom prst="roundRect">
            <a:avLst>
              <a:gd name="adj" fmla="val 12500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723900" y="3438525"/>
            <a:ext cx="323850" cy="323850"/>
          </a:xfrm>
          <a:prstGeom prst="roundRect">
            <a:avLst>
              <a:gd name="adj" fmla="val 17647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38200" y="35052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200150" y="3371850"/>
            <a:ext cx="5638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A2230"/>
                </a:solidFill>
                <a:latin typeface="Microsoft YaHei"/>
                <a:ea typeface="Microsoft YaHei"/>
              </a:rPr>
              <a:t>LLM </a:t>
            </a:r>
            <a:r>
              <a:rPr lang="zh-CN" sz="1500" b="1">
                <a:solidFill>
                  <a:srgbClr val="1A2230"/>
                </a:solidFill>
                <a:latin typeface="Microsoft YaHei"/>
                <a:ea typeface="Microsoft YaHei"/>
              </a:rPr>
              <a:t>代码一次成功率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200150" y="3638550"/>
            <a:ext cx="563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应对：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RAG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知识库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模板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自动调试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7334250" y="923925"/>
            <a:ext cx="4324350" cy="1828800"/>
          </a:xfrm>
          <a:prstGeom prst="roundRect">
            <a:avLst>
              <a:gd name="adj" fmla="val 5208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543800" y="1114425"/>
            <a:ext cx="390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借鉴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 Earth Agent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7543800" y="15144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715250" y="1457325"/>
            <a:ext cx="1743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Ask / Do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咨询执行双模式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7543800" y="18192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715250" y="17621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Custom Instructions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偏好设置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543800" y="21240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715250" y="2066925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Agent Profiles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助手画像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7543800" y="24288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7715250" y="2371725"/>
            <a:ext cx="1590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geeDocs 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数据集知识库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7334250" y="2924175"/>
            <a:ext cx="4324350" cy="1333500"/>
          </a:xfrm>
          <a:prstGeom prst="roundRect">
            <a:avLst>
              <a:gd name="adj" fmla="val 7143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543800" y="3114675"/>
            <a:ext cx="390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E3F8C"/>
                </a:solidFill>
                <a:latin typeface="Microsoft YaHei"/>
                <a:ea typeface="Microsoft YaHei"/>
              </a:rPr>
              <a:t>展望</a:t>
            </a:r>
            <a:r>
              <a:rPr lang="en-US" sz="1500" b="1">
                <a:solidFill>
                  <a:srgbClr val="0E3F8C"/>
                </a:solidFill>
                <a:latin typeface="Microsoft YaHei"/>
                <a:ea typeface="Microsoft YaHei"/>
              </a:rPr>
              <a:t> Roadmap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543800" y="3438525"/>
            <a:ext cx="3905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双模式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偏好设置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注册登录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→ MCP Server →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多场景扩展（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ArcGIS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无人机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灾害评估）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0" name="" descr="&lt;Slide style={{ background: 'linear-gradient(135deg, #0E3F8C 0%, #1E4FA8 55%, #3D7BD9 100%)' }}&gt;&#10;  &lt;Box style={{ flex: 1, justifyContent: 'center', alignItems: 'center', gap: 20 }}&gt;&#10;    &lt;Text style={{ fontSize: 72, fontWeight: 'bold', color: '#FFFFFF', letterSpacing: 10 }}&gt;感谢聆听&lt;/Text&gt;&#10;    &lt;Text style={{ fontSize: 30, color: '#E8EFF8', letterSpacing: 4 }}&gt;敬请指正&lt;/Text&gt;&#10;    &lt;Box style={{ width: 84, height: 4, background: '#FFC107', marginTop: 12 }} /&gt;&#10;    &lt;Text style={{ fontSize: 22, color: '#C9D9F0', letterSpacing: 1, marginTop: 10 }}&gt;&#10;      让遥感分析普惠每一位一线工作者&#10;    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3F8C"/>
              </a:gs>
              <a:gs pos="55000">
                <a:srgbClr val="1E4FA8"/>
              </a:gs>
              <a:gs pos="100000">
                <a:srgbClr val="3D7BD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4533900" y="2305050"/>
            <a:ext cx="31242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 spc="750">
                <a:solidFill>
                  <a:srgbClr val="FFFFFF"/>
                </a:solidFill>
                <a:latin typeface="Microsoft YaHei"/>
                <a:ea typeface="Microsoft YaHei"/>
              </a:rPr>
              <a:t>感谢聆听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5448300" y="3324225"/>
            <a:ext cx="1295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spc="300">
                <a:solidFill>
                  <a:srgbClr val="E8EFF8"/>
                </a:solidFill>
                <a:latin typeface="Microsoft YaHei"/>
                <a:ea typeface="Microsoft YaHei"/>
              </a:rPr>
              <a:t>敬请指正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5695950" y="3971925"/>
            <a:ext cx="8001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457700" y="4295775"/>
            <a:ext cx="3286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75">
                <a:solidFill>
                  <a:srgbClr val="C9D9F0"/>
                </a:solidFill>
                <a:latin typeface="Microsoft YaHei"/>
                <a:ea typeface="Microsoft YaHei"/>
              </a:rPr>
              <a:t>让遥感分析普惠每一位一线工作者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2026-09-15T17:58:48Z</dcterms:created>
  <dcterms:modified xsi:type="dcterms:W3CDTF">2026-09-15T17:58:48Z</dcterms:modified>
</cp:coreProperties>
</file>